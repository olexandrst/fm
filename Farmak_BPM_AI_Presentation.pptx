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6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3" d="100"/>
          <a:sy n="133" d="100"/>
        </p:scale>
        <p:origin x="98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65660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06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457200"/>
            <a:ext cx="4114800" cy="6400800"/>
          </a:xfrm>
          <a:prstGeom prst="rect">
            <a:avLst/>
          </a:prstGeom>
          <a:solidFill>
            <a:srgbClr val="00D4AA">
              <a:alpha val="6000"/>
            </a:srgbClr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583680" y="182880"/>
            <a:ext cx="3200400" cy="5029200"/>
          </a:xfrm>
          <a:prstGeom prst="rect">
            <a:avLst/>
          </a:prstGeom>
          <a:solidFill>
            <a:srgbClr val="00D4AA">
              <a:alpha val="3000"/>
            </a:srgbClr>
          </a:solidFill>
          <a:ln w="12700">
            <a:solidFill>
              <a:srgbClr val="008C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411480"/>
            <a:ext cx="1193292" cy="219456"/>
          </a:xfrm>
          <a:prstGeom prst="rect">
            <a:avLst/>
          </a:prstGeom>
          <a:solidFill>
            <a:srgbClr val="00D4AA">
              <a:alpha val="20000"/>
            </a:srgbClr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411480"/>
            <a:ext cx="11932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FARMAK  ×  AI</a:t>
            </a:r>
            <a:endParaRPr lang="en-US" sz="75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5943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5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Process</a:t>
            </a:r>
            <a:endParaRPr lang="en-US" sz="5200"/>
          </a:p>
          <a:p>
            <a:pPr marL="0" indent="0">
              <a:lnSpc>
                <a:spcPct val="110000"/>
              </a:lnSpc>
              <a:buNone/>
            </a:pPr>
            <a:r>
              <a:rPr lang="en-US" sz="5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</a:t>
            </a:r>
            <a:endParaRPr lang="en-US" sz="5200"/>
          </a:p>
        </p:txBody>
      </p:sp>
      <p:sp>
        <p:nvSpPr>
          <p:cNvPr id="8" name="Text 6"/>
          <p:cNvSpPr/>
          <p:nvPr/>
        </p:nvSpPr>
        <p:spPr>
          <a:xfrm>
            <a:off x="457200" y="306324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Інтелектуальна</a:t>
            </a:r>
            <a:r>
              <a:rPr lang="en-US" sz="15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</a:t>
            </a:r>
            <a:r>
              <a:rPr lang="en-US" sz="15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моделювання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бізнес-процесів</a:t>
            </a:r>
            <a:r>
              <a:rPr lang="en-US" sz="15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</a:t>
            </a:r>
            <a:r>
              <a:rPr lang="en-US" sz="15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стандартом</a:t>
            </a:r>
            <a:r>
              <a:rPr lang="en-US" sz="15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Farmak</a:t>
            </a:r>
            <a:r>
              <a:rPr lang="en-US" sz="15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BPM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4114800"/>
            <a:ext cx="2286000" cy="2286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675120" y="914400"/>
            <a:ext cx="2103120" cy="1097280"/>
          </a:xfrm>
          <a:prstGeom prst="rect">
            <a:avLst/>
          </a:prstGeom>
          <a:solidFill>
            <a:srgbClr val="0D1530"/>
          </a:solidFill>
          <a:ln w="12700">
            <a:solidFill>
              <a:srgbClr val="008C72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675120" y="9601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~37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6675120" y="153619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питань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інтерв'ю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675120" y="2286000"/>
            <a:ext cx="2103120" cy="1097280"/>
          </a:xfrm>
          <a:prstGeom prst="rect">
            <a:avLst/>
          </a:prstGeom>
          <a:solidFill>
            <a:srgbClr val="0D1530"/>
          </a:solidFill>
          <a:ln w="12700">
            <a:solidFill>
              <a:srgbClr val="008C72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675120" y="23317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3800"/>
          </a:p>
        </p:txBody>
      </p:sp>
      <p:sp>
        <p:nvSpPr>
          <p:cNvPr id="16" name="Text 14"/>
          <p:cNvSpPr/>
          <p:nvPr/>
        </p:nvSpPr>
        <p:spPr>
          <a:xfrm>
            <a:off x="6675120" y="290779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розділів</a:t>
            </a:r>
            <a:endParaRPr lang="en-US" sz="1000"/>
          </a:p>
          <a:p>
            <a:pPr marL="0" indent="0" algn="ctr">
              <a:buNone/>
            </a:pPr>
            <a:r>
              <a:rPr lang="en-US" sz="100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процедури</a:t>
            </a:r>
            <a:endParaRPr lang="en-US" sz="1000"/>
          </a:p>
        </p:txBody>
      </p:sp>
      <p:sp>
        <p:nvSpPr>
          <p:cNvPr id="17" name="Shape 15"/>
          <p:cNvSpPr/>
          <p:nvPr/>
        </p:nvSpPr>
        <p:spPr>
          <a:xfrm>
            <a:off x="6675120" y="3657600"/>
            <a:ext cx="2103120" cy="1097280"/>
          </a:xfrm>
          <a:prstGeom prst="rect">
            <a:avLst/>
          </a:prstGeom>
          <a:solidFill>
            <a:srgbClr val="0D1530"/>
          </a:solidFill>
          <a:ln w="12700">
            <a:solidFill>
              <a:srgbClr val="008C72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675120" y="37033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800"/>
          </a:p>
        </p:txBody>
      </p:sp>
      <p:sp>
        <p:nvSpPr>
          <p:cNvPr id="19" name="Text 17"/>
          <p:cNvSpPr/>
          <p:nvPr/>
        </p:nvSpPr>
        <p:spPr>
          <a:xfrm>
            <a:off x="6675120" y="427939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режими</a:t>
            </a:r>
            <a:endParaRPr lang="en-US" sz="1000"/>
          </a:p>
          <a:p>
            <a:pPr marL="0" indent="0" algn="ctr">
              <a:buNone/>
            </a:pPr>
            <a:r>
              <a:rPr lang="en-US" sz="100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моделювання</a:t>
            </a:r>
            <a:endParaRPr lang="en-US" sz="1000"/>
          </a:p>
        </p:txBody>
      </p:sp>
      <p:pic>
        <p:nvPicPr>
          <p:cNvPr id="20" name="Picture 2">
            <a:extLst>
              <a:ext uri="{FF2B5EF4-FFF2-40B4-BE49-F238E27FC236}">
                <a16:creationId xmlns:a16="http://schemas.microsoft.com/office/drawing/2014/main" id="{CC7FE51C-F4CD-C712-0770-C37ACA7950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2437" y="173736"/>
            <a:ext cx="1301123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406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892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00"/>
          </a:p>
        </p:txBody>
      </p:sp>
      <p:sp>
        <p:nvSpPr>
          <p:cNvPr id="4" name="Shape 2"/>
          <p:cNvSpPr/>
          <p:nvPr/>
        </p:nvSpPr>
        <p:spPr>
          <a:xfrm>
            <a:off x="457200" y="274320"/>
            <a:ext cx="804672" cy="219456"/>
          </a:xfrm>
          <a:prstGeom prst="rect">
            <a:avLst/>
          </a:prstGeom>
          <a:solidFill>
            <a:srgbClr val="00D4AA">
              <a:alpha val="20000"/>
            </a:srgbClr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КОНТЕКСТ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 яку вирішує рішення</a:t>
            </a:r>
            <a:endParaRPr lang="en-US" sz="2600"/>
          </a:p>
        </p:txBody>
      </p:sp>
      <p:sp>
        <p:nvSpPr>
          <p:cNvPr id="7" name="Shape 5"/>
          <p:cNvSpPr/>
          <p:nvPr/>
        </p:nvSpPr>
        <p:spPr>
          <a:xfrm>
            <a:off x="411480" y="1234440"/>
            <a:ext cx="3840480" cy="3566160"/>
          </a:xfrm>
          <a:prstGeom prst="rect">
            <a:avLst/>
          </a:prstGeom>
          <a:solidFill>
            <a:srgbClr val="12001A"/>
          </a:solidFill>
          <a:ln w="12700">
            <a:solidFill>
              <a:srgbClr val="008C72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1480" y="1234440"/>
            <a:ext cx="3840480" cy="347472"/>
          </a:xfrm>
          <a:prstGeom prst="rect">
            <a:avLst/>
          </a:prstGeom>
          <a:solidFill>
            <a:srgbClr val="FF6B6B">
              <a:alpha val="70000"/>
            </a:srgbClr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12344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БУЛО</a:t>
            </a:r>
            <a:endParaRPr lang="en-US" sz="1100"/>
          </a:p>
        </p:txBody>
      </p:sp>
      <p:sp>
        <p:nvSpPr>
          <p:cNvPr id="10" name="Text 8"/>
          <p:cNvSpPr/>
          <p:nvPr/>
        </p:nvSpPr>
        <p:spPr>
          <a:xfrm>
            <a:off x="594360" y="1691640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Дизайнер витрачав 4–6 год на оформлення після інтерв'ю</a:t>
            </a:r>
            <a:endParaRPr lang="en-US" sz="1100"/>
          </a:p>
        </p:txBody>
      </p:sp>
      <p:sp>
        <p:nvSpPr>
          <p:cNvPr id="11" name="Text 9"/>
          <p:cNvSpPr/>
          <p:nvPr/>
        </p:nvSpPr>
        <p:spPr>
          <a:xfrm>
            <a:off x="594360" y="2221992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Відсутній єдиний підхід — кожен моделює по-своєму</a:t>
            </a:r>
            <a:endParaRPr lang="en-US" sz="1100"/>
          </a:p>
        </p:txBody>
      </p:sp>
      <p:sp>
        <p:nvSpPr>
          <p:cNvPr id="12" name="Text 10"/>
          <p:cNvSpPr/>
          <p:nvPr/>
        </p:nvSpPr>
        <p:spPr>
          <a:xfrm>
            <a:off x="594360" y="2752344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Пропускаються обов'язкові блоки (RACI, ризики, метрики)</a:t>
            </a:r>
            <a:endParaRPr lang="en-US" sz="1100"/>
          </a:p>
        </p:txBody>
      </p:sp>
      <p:sp>
        <p:nvSpPr>
          <p:cNvPr id="13" name="Text 11"/>
          <p:cNvSpPr/>
          <p:nvPr/>
        </p:nvSpPr>
        <p:spPr>
          <a:xfrm>
            <a:off x="594360" y="3282696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Узгодження з ВРО всіх рівнів займало тижні</a:t>
            </a:r>
            <a:endParaRPr lang="en-US" sz="1100"/>
          </a:p>
        </p:txBody>
      </p:sp>
      <p:sp>
        <p:nvSpPr>
          <p:cNvPr id="14" name="Text 12"/>
          <p:cNvSpPr/>
          <p:nvPr/>
        </p:nvSpPr>
        <p:spPr>
          <a:xfrm>
            <a:off x="594360" y="3813048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Документ формується вручну в Word</a:t>
            </a:r>
            <a:endParaRPr lang="en-US" sz="1100"/>
          </a:p>
        </p:txBody>
      </p:sp>
      <p:sp>
        <p:nvSpPr>
          <p:cNvPr id="15" name="Shape 13"/>
          <p:cNvSpPr/>
          <p:nvPr/>
        </p:nvSpPr>
        <p:spPr>
          <a:xfrm>
            <a:off x="4434840" y="1234440"/>
            <a:ext cx="4297680" cy="3566160"/>
          </a:xfrm>
          <a:prstGeom prst="rect">
            <a:avLst/>
          </a:prstGeom>
          <a:solidFill>
            <a:srgbClr val="001A12"/>
          </a:solidFill>
          <a:ln w="12700">
            <a:solidFill>
              <a:srgbClr val="008C72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434840" y="1234440"/>
            <a:ext cx="4297680" cy="347472"/>
          </a:xfrm>
          <a:prstGeom prst="rect">
            <a:avLst/>
          </a:prstGeom>
          <a:solidFill>
            <a:srgbClr val="00D4AA">
              <a:alpha val="70000"/>
            </a:srgbClr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434840" y="123444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СТАЛО</a:t>
            </a:r>
            <a:endParaRPr lang="en-US" sz="1100"/>
          </a:p>
        </p:txBody>
      </p:sp>
      <p:sp>
        <p:nvSpPr>
          <p:cNvPr id="18" name="Text 16"/>
          <p:cNvSpPr/>
          <p:nvPr/>
        </p:nvSpPr>
        <p:spPr>
          <a:xfrm>
            <a:off x="4617720" y="169164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AA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 генерує 80% процедури автоматично за підсумками інтерв'ю</a:t>
            </a:r>
            <a:endParaRPr lang="en-US" sz="1100"/>
          </a:p>
        </p:txBody>
      </p:sp>
      <p:sp>
        <p:nvSpPr>
          <p:cNvPr id="19" name="Text 17"/>
          <p:cNvSpPr/>
          <p:nvPr/>
        </p:nvSpPr>
        <p:spPr>
          <a:xfrm>
            <a:off x="4617720" y="2221992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AA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Єдиний промпт-архітектор знає стандарт Farmak BPM 3.2.1</a:t>
            </a:r>
            <a:endParaRPr lang="en-US" sz="1100"/>
          </a:p>
        </p:txBody>
      </p:sp>
      <p:sp>
        <p:nvSpPr>
          <p:cNvPr id="20" name="Text 18"/>
          <p:cNvSpPr/>
          <p:nvPr/>
        </p:nvSpPr>
        <p:spPr>
          <a:xfrm>
            <a:off x="4617720" y="2752344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AA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Всі 11 розділів формуються структуровано — жодного пропуску</a:t>
            </a:r>
            <a:endParaRPr lang="en-US" sz="1100"/>
          </a:p>
        </p:txBody>
      </p:sp>
      <p:sp>
        <p:nvSpPr>
          <p:cNvPr id="21" name="Text 19"/>
          <p:cNvSpPr/>
          <p:nvPr/>
        </p:nvSpPr>
        <p:spPr>
          <a:xfrm>
            <a:off x="4617720" y="3282696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AA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Голосовий або текстовий ввід — 60–90 хвилин на процес</a:t>
            </a:r>
            <a:endParaRPr lang="en-US" sz="1100"/>
          </a:p>
        </p:txBody>
      </p:sp>
      <p:sp>
        <p:nvSpPr>
          <p:cNvPr id="22" name="Text 20"/>
          <p:cNvSpPr/>
          <p:nvPr/>
        </p:nvSpPr>
        <p:spPr>
          <a:xfrm>
            <a:off x="4617720" y="3813048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AA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00" err="1">
                <a:solidFill>
                  <a:srgbClr val="AA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Готовий</a:t>
            </a:r>
            <a:r>
              <a:rPr lang="en-US" sz="1100">
                <a:solidFill>
                  <a:srgbClr val="AA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1100">
                <a:solidFill>
                  <a:srgbClr val="AA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опис</a:t>
            </a:r>
            <a:r>
              <a:rPr lang="en-US" sz="1100">
                <a:solidFill>
                  <a:srgbClr val="AA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відповідно до корпоративного шаблону</a:t>
            </a:r>
            <a:endParaRPr lang="en-US" sz="1100"/>
          </a:p>
        </p:txBody>
      </p:sp>
      <p:sp>
        <p:nvSpPr>
          <p:cNvPr id="23" name="Shape 21"/>
          <p:cNvSpPr/>
          <p:nvPr/>
        </p:nvSpPr>
        <p:spPr>
          <a:xfrm>
            <a:off x="4279392" y="2971800"/>
            <a:ext cx="128016" cy="0"/>
          </a:xfrm>
          <a:prstGeom prst="line">
            <a:avLst/>
          </a:prstGeom>
          <a:noFill/>
          <a:ln w="31750">
            <a:solidFill>
              <a:srgbClr val="00D4A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Picture 2">
            <a:extLst>
              <a:ext uri="{FF2B5EF4-FFF2-40B4-BE49-F238E27FC236}">
                <a16:creationId xmlns:a16="http://schemas.microsoft.com/office/drawing/2014/main" id="{CA88AFB6-156D-EF23-BCBA-9211225A5B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5237" y="137668"/>
            <a:ext cx="1301123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406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892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00"/>
          </a:p>
        </p:txBody>
      </p:sp>
      <p:sp>
        <p:nvSpPr>
          <p:cNvPr id="4" name="Shape 2"/>
          <p:cNvSpPr/>
          <p:nvPr/>
        </p:nvSpPr>
        <p:spPr>
          <a:xfrm>
            <a:off x="457200" y="274320"/>
            <a:ext cx="1659636" cy="219456"/>
          </a:xfrm>
          <a:prstGeom prst="rect">
            <a:avLst/>
          </a:prstGeom>
          <a:solidFill>
            <a:srgbClr val="00D4AA">
              <a:alpha val="20000"/>
            </a:srgbClr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16596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АРХІТЕКТУРА РІШЕННЯ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 працює AI Process Architect</a:t>
            </a:r>
            <a:endParaRPr lang="en-US" sz="2600"/>
          </a:p>
        </p:txBody>
      </p:sp>
      <p:sp>
        <p:nvSpPr>
          <p:cNvPr id="7" name="Shape 5"/>
          <p:cNvSpPr/>
          <p:nvPr/>
        </p:nvSpPr>
        <p:spPr>
          <a:xfrm>
            <a:off x="411480" y="1207008"/>
            <a:ext cx="2697480" cy="3611880"/>
          </a:xfrm>
          <a:prstGeom prst="rect">
            <a:avLst/>
          </a:prstGeom>
          <a:solidFill>
            <a:srgbClr val="0D1530"/>
          </a:solidFill>
          <a:ln w="12700">
            <a:solidFill>
              <a:srgbClr val="008C72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1480" y="1207008"/>
            <a:ext cx="2697480" cy="54864"/>
          </a:xfrm>
          <a:prstGeom prst="rect">
            <a:avLst/>
          </a:prstGeom>
          <a:solidFill>
            <a:srgbClr val="1A6FFF"/>
          </a:solidFill>
          <a:ln w="12700">
            <a:solidFill>
              <a:srgbClr val="1A6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132588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>
                <a:solidFill>
                  <a:srgbClr val="1A6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3600"/>
          </a:p>
        </p:txBody>
      </p:sp>
      <p:sp>
        <p:nvSpPr>
          <p:cNvPr id="10" name="Text 8"/>
          <p:cNvSpPr/>
          <p:nvPr/>
        </p:nvSpPr>
        <p:spPr>
          <a:xfrm>
            <a:off x="411480" y="193852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5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НАЛАШТУВАННЯ</a:t>
            </a:r>
            <a:endParaRPr lang="en-US" sz="1100"/>
          </a:p>
        </p:txBody>
      </p:sp>
      <p:sp>
        <p:nvSpPr>
          <p:cNvPr id="11" name="Shape 9"/>
          <p:cNvSpPr/>
          <p:nvPr/>
        </p:nvSpPr>
        <p:spPr>
          <a:xfrm>
            <a:off x="685800" y="2286000"/>
            <a:ext cx="2148840" cy="0"/>
          </a:xfrm>
          <a:prstGeom prst="line">
            <a:avLst/>
          </a:prstGeom>
          <a:noFill/>
          <a:ln w="9525">
            <a:solidFill>
              <a:srgbClr val="1A6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76072" y="2377440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Обираєш тип: Farmak BPM</a:t>
            </a:r>
            <a:endParaRPr lang="en-US" sz="1100"/>
          </a:p>
        </p:txBody>
      </p:sp>
      <p:sp>
        <p:nvSpPr>
          <p:cNvPr id="13" name="Text 11"/>
          <p:cNvSpPr/>
          <p:nvPr/>
        </p:nvSpPr>
        <p:spPr>
          <a:xfrm>
            <a:off x="576072" y="2852928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Вводиш назву процесу</a:t>
            </a:r>
            <a:endParaRPr lang="en-US" sz="1100"/>
          </a:p>
        </p:txBody>
      </p:sp>
      <p:sp>
        <p:nvSpPr>
          <p:cNvPr id="14" name="Text 12"/>
          <p:cNvSpPr/>
          <p:nvPr/>
        </p:nvSpPr>
        <p:spPr>
          <a:xfrm>
            <a:off x="576072" y="3328416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Обираєш роль, підпроцес, режим</a:t>
            </a:r>
            <a:endParaRPr lang="en-US" sz="1100"/>
          </a:p>
        </p:txBody>
      </p:sp>
      <p:sp>
        <p:nvSpPr>
          <p:cNvPr id="15" name="Text 13"/>
          <p:cNvSpPr/>
          <p:nvPr/>
        </p:nvSpPr>
        <p:spPr>
          <a:xfrm>
            <a:off x="576072" y="3803904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Натискаєш «Старт»</a:t>
            </a:r>
            <a:endParaRPr lang="en-US" sz="1100"/>
          </a:p>
        </p:txBody>
      </p:sp>
      <p:sp>
        <p:nvSpPr>
          <p:cNvPr id="16" name="Shape 14"/>
          <p:cNvSpPr/>
          <p:nvPr/>
        </p:nvSpPr>
        <p:spPr>
          <a:xfrm>
            <a:off x="3108960" y="3017520"/>
            <a:ext cx="201168" cy="0"/>
          </a:xfrm>
          <a:prstGeom prst="line">
            <a:avLst/>
          </a:prstGeom>
          <a:noFill/>
          <a:ln w="19050">
            <a:solidFill>
              <a:srgbClr val="8892A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319272" y="1207008"/>
            <a:ext cx="2697480" cy="3611880"/>
          </a:xfrm>
          <a:prstGeom prst="rect">
            <a:avLst/>
          </a:prstGeom>
          <a:solidFill>
            <a:srgbClr val="0D1530"/>
          </a:solidFill>
          <a:ln w="12700">
            <a:solidFill>
              <a:srgbClr val="008C72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319272" y="1207008"/>
            <a:ext cx="269748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319272" y="132588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3600"/>
          </a:p>
        </p:txBody>
      </p:sp>
      <p:sp>
        <p:nvSpPr>
          <p:cNvPr id="20" name="Text 18"/>
          <p:cNvSpPr/>
          <p:nvPr/>
        </p:nvSpPr>
        <p:spPr>
          <a:xfrm>
            <a:off x="3319272" y="193852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5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DISCOVERY</a:t>
            </a:r>
            <a:endParaRPr lang="en-US" sz="1100"/>
          </a:p>
        </p:txBody>
      </p:sp>
      <p:sp>
        <p:nvSpPr>
          <p:cNvPr id="21" name="Shape 19"/>
          <p:cNvSpPr/>
          <p:nvPr/>
        </p:nvSpPr>
        <p:spPr>
          <a:xfrm>
            <a:off x="3593592" y="2286000"/>
            <a:ext cx="2148840" cy="0"/>
          </a:xfrm>
          <a:prstGeom prst="line">
            <a:avLst/>
          </a:prstGeom>
          <a:noFill/>
          <a:ln w="9525">
            <a:solidFill>
              <a:srgbClr val="00D4A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483864" y="2377440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AI-архітектор ставить питання</a:t>
            </a:r>
            <a:endParaRPr lang="en-US" sz="1100"/>
          </a:p>
        </p:txBody>
      </p:sp>
      <p:sp>
        <p:nvSpPr>
          <p:cNvPr id="23" name="Text 21"/>
          <p:cNvSpPr/>
          <p:nvPr/>
        </p:nvSpPr>
        <p:spPr>
          <a:xfrm>
            <a:off x="3483864" y="2852928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37 запитань по 8 блоках</a:t>
            </a:r>
            <a:endParaRPr lang="en-US" sz="1100"/>
          </a:p>
        </p:txBody>
      </p:sp>
      <p:sp>
        <p:nvSpPr>
          <p:cNvPr id="24" name="Text 22"/>
          <p:cNvSpPr/>
          <p:nvPr/>
        </p:nvSpPr>
        <p:spPr>
          <a:xfrm>
            <a:off x="3483864" y="3328416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Голос або текст — на вибір</a:t>
            </a:r>
            <a:endParaRPr lang="en-US" sz="1100"/>
          </a:p>
        </p:txBody>
      </p:sp>
      <p:sp>
        <p:nvSpPr>
          <p:cNvPr id="25" name="Text 23"/>
          <p:cNvSpPr/>
          <p:nvPr/>
        </p:nvSpPr>
        <p:spPr>
          <a:xfrm>
            <a:off x="3483864" y="3803904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Прогрес-бар показує хід</a:t>
            </a:r>
            <a:endParaRPr lang="en-US" sz="1100"/>
          </a:p>
        </p:txBody>
      </p:sp>
      <p:sp>
        <p:nvSpPr>
          <p:cNvPr id="26" name="Shape 24"/>
          <p:cNvSpPr/>
          <p:nvPr/>
        </p:nvSpPr>
        <p:spPr>
          <a:xfrm>
            <a:off x="6016752" y="3017520"/>
            <a:ext cx="201168" cy="0"/>
          </a:xfrm>
          <a:prstGeom prst="line">
            <a:avLst/>
          </a:prstGeom>
          <a:noFill/>
          <a:ln w="19050">
            <a:solidFill>
              <a:srgbClr val="8892A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227064" y="1207008"/>
            <a:ext cx="2697480" cy="3611880"/>
          </a:xfrm>
          <a:prstGeom prst="rect">
            <a:avLst/>
          </a:prstGeom>
          <a:solidFill>
            <a:srgbClr val="0D1530"/>
          </a:solidFill>
          <a:ln w="12700">
            <a:solidFill>
              <a:srgbClr val="008C72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227064" y="1207008"/>
            <a:ext cx="2697480" cy="54864"/>
          </a:xfrm>
          <a:prstGeom prst="rect">
            <a:avLst/>
          </a:prstGeom>
          <a:solidFill>
            <a:srgbClr val="FFB832"/>
          </a:solidFill>
          <a:ln w="12700">
            <a:solidFill>
              <a:srgbClr val="FFB8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227064" y="132588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>
                <a:solidFill>
                  <a:srgbClr val="FFB8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3600"/>
          </a:p>
        </p:txBody>
      </p:sp>
      <p:sp>
        <p:nvSpPr>
          <p:cNvPr id="30" name="Text 28"/>
          <p:cNvSpPr/>
          <p:nvPr/>
        </p:nvSpPr>
        <p:spPr>
          <a:xfrm>
            <a:off x="6227064" y="193852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5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GENERATION</a:t>
            </a:r>
            <a:endParaRPr lang="en-US" sz="1100"/>
          </a:p>
        </p:txBody>
      </p:sp>
      <p:sp>
        <p:nvSpPr>
          <p:cNvPr id="31" name="Shape 29"/>
          <p:cNvSpPr/>
          <p:nvPr/>
        </p:nvSpPr>
        <p:spPr>
          <a:xfrm>
            <a:off x="6501384" y="2286000"/>
            <a:ext cx="2148840" cy="0"/>
          </a:xfrm>
          <a:prstGeom prst="line">
            <a:avLst/>
          </a:prstGeom>
          <a:noFill/>
          <a:ln w="9525">
            <a:solidFill>
              <a:srgbClr val="FFB83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391656" y="2377440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Натискаєш «Генерувати процедуру»</a:t>
            </a:r>
            <a:endParaRPr lang="en-US" sz="1100"/>
          </a:p>
        </p:txBody>
      </p:sp>
      <p:sp>
        <p:nvSpPr>
          <p:cNvPr id="33" name="Text 31"/>
          <p:cNvSpPr/>
          <p:nvPr/>
        </p:nvSpPr>
        <p:spPr>
          <a:xfrm>
            <a:off x="6391656" y="2852928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AI аналізує транскрипт</a:t>
            </a:r>
            <a:endParaRPr lang="en-US" sz="1100"/>
          </a:p>
        </p:txBody>
      </p:sp>
      <p:sp>
        <p:nvSpPr>
          <p:cNvPr id="34" name="Text 32"/>
          <p:cNvSpPr/>
          <p:nvPr/>
        </p:nvSpPr>
        <p:spPr>
          <a:xfrm>
            <a:off x="6391656" y="3328416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Формує всі 11 розділів</a:t>
            </a:r>
            <a:endParaRPr lang="en-US" sz="1100"/>
          </a:p>
        </p:txBody>
      </p:sp>
      <p:sp>
        <p:nvSpPr>
          <p:cNvPr id="35" name="Text 33"/>
          <p:cNvSpPr/>
          <p:nvPr/>
        </p:nvSpPr>
        <p:spPr>
          <a:xfrm>
            <a:off x="6391656" y="3803904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Preview → TXT або JSON</a:t>
            </a:r>
            <a:endParaRPr lang="en-US" sz="1100"/>
          </a:p>
        </p:txBody>
      </p:sp>
      <p:pic>
        <p:nvPicPr>
          <p:cNvPr id="37" name="Picture 2">
            <a:extLst>
              <a:ext uri="{FF2B5EF4-FFF2-40B4-BE49-F238E27FC236}">
                <a16:creationId xmlns:a16="http://schemas.microsoft.com/office/drawing/2014/main" id="{9A144DA1-700A-D039-C294-B51445FED6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5237" y="137668"/>
            <a:ext cx="1301123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406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892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00"/>
          </a:p>
        </p:txBody>
      </p:sp>
      <p:sp>
        <p:nvSpPr>
          <p:cNvPr id="4" name="Shape 2"/>
          <p:cNvSpPr/>
          <p:nvPr/>
        </p:nvSpPr>
        <p:spPr>
          <a:xfrm>
            <a:off x="457200" y="274320"/>
            <a:ext cx="960120" cy="219456"/>
          </a:xfrm>
          <a:prstGeom prst="rect">
            <a:avLst/>
          </a:prstGeom>
          <a:solidFill>
            <a:srgbClr val="1A6FFF">
              <a:alpha val="20000"/>
            </a:srgbClr>
          </a:solidFill>
          <a:ln w="12700">
            <a:solidFill>
              <a:srgbClr val="1A6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1A6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ПАРАМЕТР 1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Роль учасника — адаптує стиль інтерв'ю</a:t>
            </a:r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457200" y="10789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AI-архітектор знає хто перед ним і адаптує глибину та термінологію питань</a:t>
            </a:r>
            <a:endParaRPr lang="en-US" sz="1200"/>
          </a:p>
        </p:txBody>
      </p:sp>
      <p:sp>
        <p:nvSpPr>
          <p:cNvPr id="8" name="Shape 6"/>
          <p:cNvSpPr/>
          <p:nvPr/>
        </p:nvSpPr>
        <p:spPr>
          <a:xfrm>
            <a:off x="411480" y="1508760"/>
            <a:ext cx="4160520" cy="1572768"/>
          </a:xfrm>
          <a:prstGeom prst="rect">
            <a:avLst/>
          </a:prstGeom>
          <a:solidFill>
            <a:srgbClr val="0D1530"/>
          </a:solidFill>
          <a:ln w="12700">
            <a:solidFill>
              <a:srgbClr val="008C72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11480" y="1508760"/>
            <a:ext cx="45720" cy="157276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76072" y="160020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Дизайнер</a:t>
            </a:r>
            <a:endParaRPr lang="en-US" sz="1200"/>
          </a:p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бізнес-процесу</a:t>
            </a:r>
            <a:endParaRPr lang="en-US" sz="1200"/>
          </a:p>
        </p:txBody>
      </p:sp>
      <p:sp>
        <p:nvSpPr>
          <p:cNvPr id="11" name="Shape 9"/>
          <p:cNvSpPr/>
          <p:nvPr/>
        </p:nvSpPr>
        <p:spPr>
          <a:xfrm>
            <a:off x="1920240" y="1618488"/>
            <a:ext cx="1426464" cy="219456"/>
          </a:xfrm>
          <a:prstGeom prst="rect">
            <a:avLst/>
          </a:prstGeom>
          <a:solidFill>
            <a:srgbClr val="00D4AA">
              <a:alpha val="20000"/>
            </a:srgbClr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920240" y="1618488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ТЕХНІЧНА ГЛИБИНА</a:t>
            </a:r>
            <a:endParaRPr lang="en-US" sz="750"/>
          </a:p>
        </p:txBody>
      </p:sp>
      <p:sp>
        <p:nvSpPr>
          <p:cNvPr id="13" name="Text 11"/>
          <p:cNvSpPr/>
          <p:nvPr/>
        </p:nvSpPr>
        <p:spPr>
          <a:xfrm>
            <a:off x="576072" y="21671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Питання про нотацію BPMN, діаграми ARIS, доступи в систему, технічні деталі кроків. Може обговорювати FAD, Matrix Model, процесні атрибути.</a:t>
            </a:r>
            <a:endParaRPr lang="en-US" sz="950"/>
          </a:p>
        </p:txBody>
      </p:sp>
      <p:sp>
        <p:nvSpPr>
          <p:cNvPr id="14" name="Text 12"/>
          <p:cNvSpPr/>
          <p:nvPr/>
        </p:nvSpPr>
        <p:spPr>
          <a:xfrm>
            <a:off x="576072" y="272491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Приклади питань: Яку нотацію використовуєш?  /  В якій папці ARIS буде процес?  /  Які атрибути потрібно заповнити?</a:t>
            </a:r>
            <a:endParaRPr lang="en-US" sz="850"/>
          </a:p>
        </p:txBody>
      </p:sp>
      <p:sp>
        <p:nvSpPr>
          <p:cNvPr id="15" name="Shape 13"/>
          <p:cNvSpPr/>
          <p:nvPr/>
        </p:nvSpPr>
        <p:spPr>
          <a:xfrm>
            <a:off x="4782312" y="1508760"/>
            <a:ext cx="4160520" cy="1572768"/>
          </a:xfrm>
          <a:prstGeom prst="rect">
            <a:avLst/>
          </a:prstGeom>
          <a:solidFill>
            <a:srgbClr val="0D1530"/>
          </a:solidFill>
          <a:ln w="12700">
            <a:solidFill>
              <a:srgbClr val="008C72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82312" y="1508760"/>
            <a:ext cx="45720" cy="1572768"/>
          </a:xfrm>
          <a:prstGeom prst="rect">
            <a:avLst/>
          </a:prstGeom>
          <a:solidFill>
            <a:srgbClr val="1A6FFF"/>
          </a:solidFill>
          <a:ln w="12700">
            <a:solidFill>
              <a:srgbClr val="1A6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46904" y="160020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Власник</a:t>
            </a:r>
            <a:endParaRPr lang="en-US" sz="1200"/>
          </a:p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процесу L4</a:t>
            </a:r>
            <a:endParaRPr lang="en-US" sz="1200"/>
          </a:p>
        </p:txBody>
      </p:sp>
      <p:sp>
        <p:nvSpPr>
          <p:cNvPr id="18" name="Shape 16"/>
          <p:cNvSpPr/>
          <p:nvPr/>
        </p:nvSpPr>
        <p:spPr>
          <a:xfrm>
            <a:off x="6291072" y="1618488"/>
            <a:ext cx="1581912" cy="219456"/>
          </a:xfrm>
          <a:prstGeom prst="rect">
            <a:avLst/>
          </a:prstGeom>
          <a:solidFill>
            <a:srgbClr val="1A6FFF">
              <a:alpha val="20000"/>
            </a:srgbClr>
          </a:solidFill>
          <a:ln w="12700">
            <a:solidFill>
              <a:srgbClr val="1A6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91072" y="1618488"/>
            <a:ext cx="1581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1A6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ОПЕРАЦІЙНИЙ РІВЕНЬ</a:t>
            </a:r>
            <a:endParaRPr lang="en-US" sz="750"/>
          </a:p>
        </p:txBody>
      </p:sp>
      <p:sp>
        <p:nvSpPr>
          <p:cNvPr id="20" name="Text 18"/>
          <p:cNvSpPr/>
          <p:nvPr/>
        </p:nvSpPr>
        <p:spPr>
          <a:xfrm>
            <a:off x="4946904" y="21671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Питання про реальне виконання, відповідальність, терміни, проблеми на операційному рівні. Акцент на кроках і петлях узгодження.</a:t>
            </a:r>
            <a:endParaRPr lang="en-US" sz="950"/>
          </a:p>
        </p:txBody>
      </p:sp>
      <p:sp>
        <p:nvSpPr>
          <p:cNvPr id="21" name="Text 19"/>
          <p:cNvSpPr/>
          <p:nvPr/>
        </p:nvSpPr>
        <p:spPr>
          <a:xfrm>
            <a:off x="4946904" y="272491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>
                <a:solidFill>
                  <a:srgbClr val="1A6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Приклади питань: Хто реально виконує цей крок?  /  Де найчастіші затримки?  /  Що відбувається при відхиленні?</a:t>
            </a:r>
            <a:endParaRPr lang="en-US" sz="850"/>
          </a:p>
        </p:txBody>
      </p:sp>
      <p:sp>
        <p:nvSpPr>
          <p:cNvPr id="22" name="Shape 20"/>
          <p:cNvSpPr/>
          <p:nvPr/>
        </p:nvSpPr>
        <p:spPr>
          <a:xfrm>
            <a:off x="411480" y="3227832"/>
            <a:ext cx="4160520" cy="1572768"/>
          </a:xfrm>
          <a:prstGeom prst="rect">
            <a:avLst/>
          </a:prstGeom>
          <a:solidFill>
            <a:srgbClr val="0D1530"/>
          </a:solidFill>
          <a:ln w="12700">
            <a:solidFill>
              <a:srgbClr val="008C72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11480" y="3227832"/>
            <a:ext cx="45720" cy="1572768"/>
          </a:xfrm>
          <a:prstGeom prst="rect">
            <a:avLst/>
          </a:prstGeom>
          <a:solidFill>
            <a:srgbClr val="FFB832"/>
          </a:solidFill>
          <a:ln w="12700">
            <a:solidFill>
              <a:srgbClr val="FFB8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76072" y="3319272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Експерт</a:t>
            </a:r>
            <a:endParaRPr lang="en-US" sz="1200"/>
          </a:p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бізнес-процесу</a:t>
            </a:r>
            <a:endParaRPr lang="en-US" sz="1200"/>
          </a:p>
        </p:txBody>
      </p:sp>
      <p:sp>
        <p:nvSpPr>
          <p:cNvPr id="25" name="Shape 23"/>
          <p:cNvSpPr/>
          <p:nvPr/>
        </p:nvSpPr>
        <p:spPr>
          <a:xfrm>
            <a:off x="1920240" y="3337560"/>
            <a:ext cx="1504188" cy="219456"/>
          </a:xfrm>
          <a:prstGeom prst="rect">
            <a:avLst/>
          </a:prstGeom>
          <a:solidFill>
            <a:srgbClr val="FFB832">
              <a:alpha val="20000"/>
            </a:srgbClr>
          </a:solidFill>
          <a:ln w="12700">
            <a:solidFill>
              <a:srgbClr val="FFB8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920240" y="3337560"/>
            <a:ext cx="15041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B8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ПРЕДМЕТНА ОБЛАСТЬ</a:t>
            </a:r>
            <a:endParaRPr lang="en-US" sz="750"/>
          </a:p>
        </p:txBody>
      </p:sp>
      <p:sp>
        <p:nvSpPr>
          <p:cNvPr id="27" name="Text 25"/>
          <p:cNvSpPr/>
          <p:nvPr/>
        </p:nvSpPr>
        <p:spPr>
          <a:xfrm>
            <a:off x="576072" y="3886200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Питання про суть процесу, галузеву специфіку, типові ризики, потенціал покращення. Менше технічних деталей, більше змісту.</a:t>
            </a:r>
            <a:endParaRPr lang="en-US" sz="950"/>
          </a:p>
        </p:txBody>
      </p:sp>
      <p:sp>
        <p:nvSpPr>
          <p:cNvPr id="28" name="Text 26"/>
          <p:cNvSpPr/>
          <p:nvPr/>
        </p:nvSpPr>
        <p:spPr>
          <a:xfrm>
            <a:off x="576072" y="444398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>
                <a:solidFill>
                  <a:srgbClr val="FFB8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Приклади питань: Яка головна цінність цього процесу?  /  Які ризики найкритичніші?  /  Що б ви змінили першочергово?</a:t>
            </a:r>
            <a:endParaRPr lang="en-US" sz="850"/>
          </a:p>
        </p:txBody>
      </p:sp>
      <p:sp>
        <p:nvSpPr>
          <p:cNvPr id="29" name="Shape 27"/>
          <p:cNvSpPr/>
          <p:nvPr/>
        </p:nvSpPr>
        <p:spPr>
          <a:xfrm>
            <a:off x="4782312" y="3227832"/>
            <a:ext cx="4160520" cy="1572768"/>
          </a:xfrm>
          <a:prstGeom prst="rect">
            <a:avLst/>
          </a:prstGeom>
          <a:solidFill>
            <a:srgbClr val="0D1530"/>
          </a:solidFill>
          <a:ln w="12700">
            <a:solidFill>
              <a:srgbClr val="008C72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782312" y="3227832"/>
            <a:ext cx="45720" cy="1572768"/>
          </a:xfrm>
          <a:prstGeom prst="rect">
            <a:avLst/>
          </a:prstGeom>
          <a:solidFill>
            <a:srgbClr val="008C72"/>
          </a:solidFill>
          <a:ln w="12700">
            <a:solidFill>
              <a:srgbClr val="008C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946904" y="3319272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Процесний</a:t>
            </a:r>
            <a:endParaRPr lang="en-US" sz="1200"/>
          </a:p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аналітик</a:t>
            </a:r>
            <a:endParaRPr lang="en-US" sz="1200"/>
          </a:p>
        </p:txBody>
      </p:sp>
      <p:sp>
        <p:nvSpPr>
          <p:cNvPr id="32" name="Shape 30"/>
          <p:cNvSpPr/>
          <p:nvPr/>
        </p:nvSpPr>
        <p:spPr>
          <a:xfrm>
            <a:off x="6291072" y="3337560"/>
            <a:ext cx="1348740" cy="219456"/>
          </a:xfrm>
          <a:prstGeom prst="rect">
            <a:avLst/>
          </a:prstGeom>
          <a:solidFill>
            <a:srgbClr val="008C72">
              <a:alpha val="20000"/>
            </a:srgbClr>
          </a:solidFill>
          <a:ln w="12700">
            <a:solidFill>
              <a:srgbClr val="008C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291072" y="3337560"/>
            <a:ext cx="13487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008C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МЕТОДОЛОГІЯ BPM</a:t>
            </a:r>
            <a:endParaRPr lang="en-US" sz="750"/>
          </a:p>
        </p:txBody>
      </p:sp>
      <p:sp>
        <p:nvSpPr>
          <p:cNvPr id="34" name="Text 32"/>
          <p:cNvSpPr/>
          <p:nvPr/>
        </p:nvSpPr>
        <p:spPr>
          <a:xfrm>
            <a:off x="4946904" y="3886200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Повна технічна термінологія BPM, RACI, метрики, стандарти. Може пропускати базові пояснення і переходити одразу до структурних питань.</a:t>
            </a:r>
            <a:endParaRPr lang="en-US" sz="950"/>
          </a:p>
        </p:txBody>
      </p:sp>
      <p:sp>
        <p:nvSpPr>
          <p:cNvPr id="35" name="Text 33"/>
          <p:cNvSpPr/>
          <p:nvPr/>
        </p:nvSpPr>
        <p:spPr>
          <a:xfrm>
            <a:off x="4946904" y="444398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>
                <a:solidFill>
                  <a:srgbClr val="008C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Приклади питань: Який рівень декомпозиції?  /  Хто A в матриці RACI?  /  Яка методика розрахунку метрики?</a:t>
            </a:r>
            <a:endParaRPr lang="en-US" sz="850"/>
          </a:p>
        </p:txBody>
      </p:sp>
      <p:pic>
        <p:nvPicPr>
          <p:cNvPr id="36" name="Picture 2">
            <a:extLst>
              <a:ext uri="{FF2B5EF4-FFF2-40B4-BE49-F238E27FC236}">
                <a16:creationId xmlns:a16="http://schemas.microsoft.com/office/drawing/2014/main" id="{C5407EDE-C93D-C023-7F43-0635C724E1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5237" y="137668"/>
            <a:ext cx="1301123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406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892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00"/>
          </a:p>
        </p:txBody>
      </p:sp>
      <p:sp>
        <p:nvSpPr>
          <p:cNvPr id="4" name="Shape 2"/>
          <p:cNvSpPr/>
          <p:nvPr/>
        </p:nvSpPr>
        <p:spPr>
          <a:xfrm>
            <a:off x="457200" y="274320"/>
            <a:ext cx="960120" cy="219456"/>
          </a:xfrm>
          <a:prstGeom prst="rect">
            <a:avLst/>
          </a:prstGeom>
          <a:solidFill>
            <a:srgbClr val="1A6FFF">
              <a:alpha val="20000"/>
            </a:srgbClr>
          </a:solidFill>
          <a:ln w="12700">
            <a:solidFill>
              <a:srgbClr val="1A6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1A6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ПАРАМЕТР 2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Підпроцес — визначає МЕТУ інтерв'ю</a:t>
            </a:r>
            <a:endParaRPr lang="en-US" sz="2400"/>
          </a:p>
        </p:txBody>
      </p:sp>
      <p:sp>
        <p:nvSpPr>
          <p:cNvPr id="7" name="Shape 5"/>
          <p:cNvSpPr/>
          <p:nvPr/>
        </p:nvSpPr>
        <p:spPr>
          <a:xfrm>
            <a:off x="411480" y="1188720"/>
            <a:ext cx="4160520" cy="3749040"/>
          </a:xfrm>
          <a:prstGeom prst="rect">
            <a:avLst/>
          </a:prstGeom>
          <a:solidFill>
            <a:srgbClr val="0D1530"/>
          </a:solidFill>
          <a:ln w="12700">
            <a:solidFill>
              <a:srgbClr val="008C72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1480" y="1188720"/>
            <a:ext cx="4160520" cy="384048"/>
          </a:xfrm>
          <a:prstGeom prst="rect">
            <a:avLst/>
          </a:prstGeom>
          <a:solidFill>
            <a:srgbClr val="1A6FFF">
              <a:alpha val="80000"/>
            </a:srgbClr>
          </a:solidFill>
          <a:ln w="12700">
            <a:solidFill>
              <a:srgbClr val="1A6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118872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BPM 3.2.1.1</a:t>
            </a:r>
            <a:endParaRPr lang="en-US" sz="1100"/>
          </a:p>
        </p:txBody>
      </p:sp>
      <p:sp>
        <p:nvSpPr>
          <p:cNvPr id="10" name="Text 8"/>
          <p:cNvSpPr/>
          <p:nvPr/>
        </p:nvSpPr>
        <p:spPr>
          <a:xfrm>
            <a:off x="548640" y="164592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Опрацювання</a:t>
            </a:r>
            <a:endParaRPr lang="en-US" sz="1800"/>
          </a:p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ініціатив</a:t>
            </a:r>
            <a:endParaRPr lang="en-US" sz="1800"/>
          </a:p>
        </p:txBody>
      </p:sp>
      <p:sp>
        <p:nvSpPr>
          <p:cNvPr id="11" name="Text 9"/>
          <p:cNvSpPr/>
          <p:nvPr/>
        </p:nvSpPr>
        <p:spPr>
          <a:xfrm>
            <a:off x="548640" y="22860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1A6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МЕТА: Чи потрібно моделювати? Коли і як?</a:t>
            </a:r>
            <a:endParaRPr lang="en-US" sz="1000"/>
          </a:p>
        </p:txBody>
      </p:sp>
      <p:sp>
        <p:nvSpPr>
          <p:cNvPr id="12" name="Text 10"/>
          <p:cNvSpPr/>
          <p:nvPr/>
        </p:nvSpPr>
        <p:spPr>
          <a:xfrm>
            <a:off x="548640" y="260604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8892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Блоки інтерв'ю:</a:t>
            </a:r>
            <a:endParaRPr lang="en-US" sz="900"/>
          </a:p>
        </p:txBody>
      </p:sp>
      <p:sp>
        <p:nvSpPr>
          <p:cNvPr id="13" name="Text 11"/>
          <p:cNvSpPr/>
          <p:nvPr/>
        </p:nvSpPr>
        <p:spPr>
          <a:xfrm>
            <a:off x="548640" y="2834640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Ідентифікація ініціативи</a:t>
            </a:r>
            <a:endParaRPr lang="en-US" sz="950"/>
          </a:p>
        </p:txBody>
      </p:sp>
      <p:sp>
        <p:nvSpPr>
          <p:cNvPr id="14" name="Text 12"/>
          <p:cNvSpPr/>
          <p:nvPr/>
        </p:nvSpPr>
        <p:spPr>
          <a:xfrm>
            <a:off x="548640" y="3063240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Перевірка в BPML та архітектурі</a:t>
            </a:r>
            <a:endParaRPr lang="en-US" sz="950"/>
          </a:p>
        </p:txBody>
      </p:sp>
      <p:sp>
        <p:nvSpPr>
          <p:cNvPr id="15" name="Text 13"/>
          <p:cNvSpPr/>
          <p:nvPr/>
        </p:nvSpPr>
        <p:spPr>
          <a:xfrm>
            <a:off x="548640" y="3291840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Пріоритет та план моделювання</a:t>
            </a:r>
            <a:endParaRPr lang="en-US" sz="950"/>
          </a:p>
        </p:txBody>
      </p:sp>
      <p:sp>
        <p:nvSpPr>
          <p:cNvPr id="16" name="Text 14"/>
          <p:cNvSpPr/>
          <p:nvPr/>
        </p:nvSpPr>
        <p:spPr>
          <a:xfrm>
            <a:off x="548640" y="3520440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Ресурс та дизайнер</a:t>
            </a:r>
            <a:endParaRPr lang="en-US" sz="950"/>
          </a:p>
        </p:txBody>
      </p:sp>
      <p:sp>
        <p:nvSpPr>
          <p:cNvPr id="17" name="Text 15"/>
          <p:cNvSpPr/>
          <p:nvPr/>
        </p:nvSpPr>
        <p:spPr>
          <a:xfrm>
            <a:off x="548640" y="3749040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Узгодження з ВРО всіх рівнів</a:t>
            </a:r>
            <a:endParaRPr lang="en-US" sz="950"/>
          </a:p>
        </p:txBody>
      </p:sp>
      <p:sp>
        <p:nvSpPr>
          <p:cNvPr id="18" name="Text 16"/>
          <p:cNvSpPr/>
          <p:nvPr/>
        </p:nvSpPr>
        <p:spPr>
          <a:xfrm>
            <a:off x="548640" y="3977640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Форма запиту (Додаток 1)</a:t>
            </a:r>
            <a:endParaRPr lang="en-US" sz="950"/>
          </a:p>
        </p:txBody>
      </p:sp>
      <p:sp>
        <p:nvSpPr>
          <p:cNvPr id="19" name="Shape 17"/>
          <p:cNvSpPr/>
          <p:nvPr/>
        </p:nvSpPr>
        <p:spPr>
          <a:xfrm>
            <a:off x="502920" y="4572000"/>
            <a:ext cx="3977640" cy="292608"/>
          </a:xfrm>
          <a:prstGeom prst="rect">
            <a:avLst/>
          </a:prstGeom>
          <a:solidFill>
            <a:srgbClr val="1A6FFF">
              <a:alpha val="15000"/>
            </a:srgbClr>
          </a:solidFill>
          <a:ln w="12700">
            <a:solidFill>
              <a:srgbClr val="1A6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" y="4572000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1A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Заповнена Форма запиту + узгоджений план моделювання</a:t>
            </a:r>
            <a:endParaRPr lang="en-US" sz="850"/>
          </a:p>
        </p:txBody>
      </p:sp>
      <p:sp>
        <p:nvSpPr>
          <p:cNvPr id="21" name="Shape 19"/>
          <p:cNvSpPr/>
          <p:nvPr/>
        </p:nvSpPr>
        <p:spPr>
          <a:xfrm>
            <a:off x="4782312" y="1188720"/>
            <a:ext cx="4160520" cy="3749040"/>
          </a:xfrm>
          <a:prstGeom prst="rect">
            <a:avLst/>
          </a:prstGeom>
          <a:solidFill>
            <a:srgbClr val="0D1530"/>
          </a:solidFill>
          <a:ln w="12700">
            <a:solidFill>
              <a:srgbClr val="008C72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782312" y="1188720"/>
            <a:ext cx="4160520" cy="384048"/>
          </a:xfrm>
          <a:prstGeom prst="rect">
            <a:avLst/>
          </a:prstGeom>
          <a:solidFill>
            <a:srgbClr val="00D4AA">
              <a:alpha val="80000"/>
            </a:srgbClr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19472" y="118872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BPM 3.2.1.2</a:t>
            </a:r>
            <a:endParaRPr lang="en-US" sz="1100"/>
          </a:p>
        </p:txBody>
      </p:sp>
      <p:sp>
        <p:nvSpPr>
          <p:cNvPr id="24" name="Text 22"/>
          <p:cNvSpPr/>
          <p:nvPr/>
        </p:nvSpPr>
        <p:spPr>
          <a:xfrm>
            <a:off x="4919472" y="164592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Моделювання</a:t>
            </a:r>
            <a:endParaRPr lang="en-US" sz="1800"/>
          </a:p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бізнес-процесу</a:t>
            </a:r>
            <a:endParaRPr lang="en-US" sz="1800"/>
          </a:p>
        </p:txBody>
      </p:sp>
      <p:sp>
        <p:nvSpPr>
          <p:cNvPr id="25" name="Text 23"/>
          <p:cNvSpPr/>
          <p:nvPr/>
        </p:nvSpPr>
        <p:spPr>
          <a:xfrm>
            <a:off x="4919472" y="22860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МЕТА: Як саме виглядає процес TO-BE?</a:t>
            </a:r>
            <a:endParaRPr lang="en-US" sz="1000"/>
          </a:p>
        </p:txBody>
      </p:sp>
      <p:sp>
        <p:nvSpPr>
          <p:cNvPr id="26" name="Text 24"/>
          <p:cNvSpPr/>
          <p:nvPr/>
        </p:nvSpPr>
        <p:spPr>
          <a:xfrm>
            <a:off x="4919472" y="25222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8892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Блоки інтерв'ю:</a:t>
            </a:r>
            <a:endParaRPr lang="en-US" sz="900"/>
          </a:p>
        </p:txBody>
      </p:sp>
      <p:sp>
        <p:nvSpPr>
          <p:cNvPr id="27" name="Text 25"/>
          <p:cNvSpPr/>
          <p:nvPr/>
        </p:nvSpPr>
        <p:spPr>
          <a:xfrm>
            <a:off x="4919472" y="2750820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Паспорт процедури</a:t>
            </a:r>
            <a:endParaRPr lang="en-US" sz="950"/>
          </a:p>
        </p:txBody>
      </p:sp>
      <p:sp>
        <p:nvSpPr>
          <p:cNvPr id="28" name="Text 26"/>
          <p:cNvSpPr/>
          <p:nvPr/>
        </p:nvSpPr>
        <p:spPr>
          <a:xfrm>
            <a:off x="4919472" y="2979420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Входи та тригери</a:t>
            </a:r>
            <a:endParaRPr lang="en-US" sz="950"/>
          </a:p>
        </p:txBody>
      </p:sp>
      <p:sp>
        <p:nvSpPr>
          <p:cNvPr id="29" name="Text 27"/>
          <p:cNvSpPr/>
          <p:nvPr/>
        </p:nvSpPr>
        <p:spPr>
          <a:xfrm>
            <a:off x="4919472" y="3208020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Кроки (детально)</a:t>
            </a:r>
            <a:endParaRPr lang="en-US" sz="950"/>
          </a:p>
        </p:txBody>
      </p:sp>
      <p:sp>
        <p:nvSpPr>
          <p:cNvPr id="30" name="Text 28"/>
          <p:cNvSpPr/>
          <p:nvPr/>
        </p:nvSpPr>
        <p:spPr>
          <a:xfrm>
            <a:off x="4919472" y="3436620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RACI матриця</a:t>
            </a:r>
            <a:endParaRPr lang="en-US" sz="950"/>
          </a:p>
        </p:txBody>
      </p:sp>
      <p:sp>
        <p:nvSpPr>
          <p:cNvPr id="31" name="Text 29"/>
          <p:cNvSpPr/>
          <p:nvPr/>
        </p:nvSpPr>
        <p:spPr>
          <a:xfrm>
            <a:off x="4919472" y="3665220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Інтеграції та IT-системи</a:t>
            </a:r>
            <a:endParaRPr lang="en-US" sz="950"/>
          </a:p>
        </p:txBody>
      </p:sp>
      <p:sp>
        <p:nvSpPr>
          <p:cNvPr id="32" name="Text 30"/>
          <p:cNvSpPr/>
          <p:nvPr/>
        </p:nvSpPr>
        <p:spPr>
          <a:xfrm>
            <a:off x="4919472" y="3893820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Ризики та контролі</a:t>
            </a:r>
            <a:endParaRPr lang="en-US" sz="950"/>
          </a:p>
        </p:txBody>
      </p:sp>
      <p:sp>
        <p:nvSpPr>
          <p:cNvPr id="33" name="Text 31"/>
          <p:cNvSpPr/>
          <p:nvPr/>
        </p:nvSpPr>
        <p:spPr>
          <a:xfrm>
            <a:off x="4919472" y="4122420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Метрики</a:t>
            </a:r>
            <a:endParaRPr lang="en-US" sz="950"/>
          </a:p>
        </p:txBody>
      </p:sp>
      <p:sp>
        <p:nvSpPr>
          <p:cNvPr id="34" name="Text 32"/>
          <p:cNvSpPr/>
          <p:nvPr/>
        </p:nvSpPr>
        <p:spPr>
          <a:xfrm>
            <a:off x="4919472" y="4351020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Зміни + план імплементації</a:t>
            </a:r>
            <a:endParaRPr lang="en-US" sz="950"/>
          </a:p>
        </p:txBody>
      </p:sp>
      <p:sp>
        <p:nvSpPr>
          <p:cNvPr id="35" name="Shape 33"/>
          <p:cNvSpPr/>
          <p:nvPr/>
        </p:nvSpPr>
        <p:spPr>
          <a:xfrm>
            <a:off x="4873752" y="4572000"/>
            <a:ext cx="3977640" cy="292608"/>
          </a:xfrm>
          <a:prstGeom prst="rect">
            <a:avLst/>
          </a:prstGeom>
          <a:solidFill>
            <a:srgbClr val="00D4AA">
              <a:alpha val="15000"/>
            </a:srgbClr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919472" y="4572000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Повна процедура BPM — всі 11 розділів + ARIS-діаграми</a:t>
            </a:r>
            <a:endParaRPr lang="en-US" sz="850"/>
          </a:p>
        </p:txBody>
      </p:sp>
      <p:pic>
        <p:nvPicPr>
          <p:cNvPr id="37" name="Picture 2">
            <a:extLst>
              <a:ext uri="{FF2B5EF4-FFF2-40B4-BE49-F238E27FC236}">
                <a16:creationId xmlns:a16="http://schemas.microsoft.com/office/drawing/2014/main" id="{9BDE4B3C-61AC-6950-587F-9FDCEB96E7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5237" y="137668"/>
            <a:ext cx="1301123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406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892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00"/>
          </a:p>
        </p:txBody>
      </p:sp>
      <p:sp>
        <p:nvSpPr>
          <p:cNvPr id="4" name="Shape 2"/>
          <p:cNvSpPr/>
          <p:nvPr/>
        </p:nvSpPr>
        <p:spPr>
          <a:xfrm>
            <a:off x="457200" y="274320"/>
            <a:ext cx="960120" cy="219456"/>
          </a:xfrm>
          <a:prstGeom prst="rect">
            <a:avLst/>
          </a:prstGeom>
          <a:solidFill>
            <a:srgbClr val="1A6FFF">
              <a:alpha val="20000"/>
            </a:srgbClr>
          </a:solidFill>
          <a:ln w="12700">
            <a:solidFill>
              <a:srgbClr val="1A6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1A6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ПАРАМЕТР 3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Режим моделювання — визначає СЦЕНАРІЙ роботи</a:t>
            </a:r>
            <a:endParaRPr lang="en-US" sz="2400"/>
          </a:p>
        </p:txBody>
      </p:sp>
      <p:sp>
        <p:nvSpPr>
          <p:cNvPr id="7" name="Shape 5"/>
          <p:cNvSpPr/>
          <p:nvPr/>
        </p:nvSpPr>
        <p:spPr>
          <a:xfrm>
            <a:off x="411480" y="1143000"/>
            <a:ext cx="2743200" cy="3794760"/>
          </a:xfrm>
          <a:prstGeom prst="rect">
            <a:avLst/>
          </a:prstGeom>
          <a:solidFill>
            <a:srgbClr val="0D1530"/>
          </a:solidFill>
          <a:ln w="12700">
            <a:solidFill>
              <a:srgbClr val="008C72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1480" y="1143000"/>
            <a:ext cx="274320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126187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TO-BE</a:t>
            </a:r>
            <a:endParaRPr lang="en-US" sz="1600"/>
          </a:p>
        </p:txBody>
      </p:sp>
      <p:sp>
        <p:nvSpPr>
          <p:cNvPr id="10" name="Text 8"/>
          <p:cNvSpPr/>
          <p:nvPr/>
        </p:nvSpPr>
        <p:spPr>
          <a:xfrm>
            <a:off x="548640" y="16916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Цільовий процес</a:t>
            </a:r>
            <a:endParaRPr lang="en-US" sz="1300"/>
          </a:p>
        </p:txBody>
      </p:sp>
      <p:sp>
        <p:nvSpPr>
          <p:cNvPr id="11" name="Shape 9"/>
          <p:cNvSpPr/>
          <p:nvPr/>
        </p:nvSpPr>
        <p:spPr>
          <a:xfrm>
            <a:off x="548640" y="2057400"/>
            <a:ext cx="1504188" cy="219456"/>
          </a:xfrm>
          <a:prstGeom prst="rect">
            <a:avLst/>
          </a:prstGeom>
          <a:solidFill>
            <a:srgbClr val="00D4AA">
              <a:alpha val="20000"/>
            </a:srgbClr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2057400"/>
            <a:ext cx="15041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НАЙЧАСТІШИЙ ВИБІР</a:t>
            </a:r>
            <a:endParaRPr lang="en-US" sz="750"/>
          </a:p>
        </p:txBody>
      </p:sp>
      <p:sp>
        <p:nvSpPr>
          <p:cNvPr id="13" name="Text 11"/>
          <p:cNvSpPr/>
          <p:nvPr/>
        </p:nvSpPr>
        <p:spPr>
          <a:xfrm>
            <a:off x="548640" y="2340864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Проектуємо як процес МАЄ виглядати. Стандартний режим для більшості ініціатив.</a:t>
            </a:r>
            <a:endParaRPr lang="en-US" sz="1000"/>
          </a:p>
        </p:txBody>
      </p:sp>
      <p:sp>
        <p:nvSpPr>
          <p:cNvPr id="14" name="Shape 12"/>
          <p:cNvSpPr/>
          <p:nvPr/>
        </p:nvSpPr>
        <p:spPr>
          <a:xfrm>
            <a:off x="548640" y="3063240"/>
            <a:ext cx="2468880" cy="0"/>
          </a:xfrm>
          <a:prstGeom prst="line">
            <a:avLst/>
          </a:prstGeom>
          <a:noFill/>
          <a:ln w="6350">
            <a:solidFill>
              <a:srgbClr val="00D4A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315468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Старт з нуля або від ідеї</a:t>
            </a:r>
            <a:endParaRPr lang="en-US" sz="950"/>
          </a:p>
        </p:txBody>
      </p:sp>
      <p:sp>
        <p:nvSpPr>
          <p:cNvPr id="16" name="Text 14"/>
          <p:cNvSpPr/>
          <p:nvPr/>
        </p:nvSpPr>
        <p:spPr>
          <a:xfrm>
            <a:off x="548640" y="356616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8 блоків питань про цільовий стан</a:t>
            </a:r>
            <a:endParaRPr lang="en-US" sz="950"/>
          </a:p>
        </p:txBody>
      </p:sp>
      <p:sp>
        <p:nvSpPr>
          <p:cNvPr id="17" name="Text 15"/>
          <p:cNvSpPr/>
          <p:nvPr/>
        </p:nvSpPr>
        <p:spPr>
          <a:xfrm>
            <a:off x="548640" y="397764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Обґрунтування кожного рішення</a:t>
            </a:r>
            <a:endParaRPr lang="en-US" sz="950"/>
          </a:p>
        </p:txBody>
      </p:sp>
      <p:sp>
        <p:nvSpPr>
          <p:cNvPr id="18" name="Text 16"/>
          <p:cNvSpPr/>
          <p:nvPr/>
        </p:nvSpPr>
        <p:spPr>
          <a:xfrm>
            <a:off x="548640" y="438912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Повна процедура TO-BE</a:t>
            </a:r>
            <a:endParaRPr lang="en-US" sz="950"/>
          </a:p>
        </p:txBody>
      </p:sp>
      <p:sp>
        <p:nvSpPr>
          <p:cNvPr id="19" name="Shape 17"/>
          <p:cNvSpPr/>
          <p:nvPr/>
        </p:nvSpPr>
        <p:spPr>
          <a:xfrm>
            <a:off x="3227832" y="1143000"/>
            <a:ext cx="2743200" cy="3794760"/>
          </a:xfrm>
          <a:prstGeom prst="rect">
            <a:avLst/>
          </a:prstGeom>
          <a:solidFill>
            <a:srgbClr val="0D1530"/>
          </a:solidFill>
          <a:ln w="12700">
            <a:solidFill>
              <a:srgbClr val="008C72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227832" y="1143000"/>
            <a:ext cx="2743200" cy="54864"/>
          </a:xfrm>
          <a:prstGeom prst="rect">
            <a:avLst/>
          </a:prstGeom>
          <a:solidFill>
            <a:srgbClr val="1A6FFF"/>
          </a:solidFill>
          <a:ln w="12700">
            <a:solidFill>
              <a:srgbClr val="1A6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364992" y="126187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A6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AS-IS</a:t>
            </a:r>
            <a:endParaRPr lang="en-US" sz="1600"/>
          </a:p>
        </p:txBody>
      </p:sp>
      <p:sp>
        <p:nvSpPr>
          <p:cNvPr id="22" name="Text 20"/>
          <p:cNvSpPr/>
          <p:nvPr/>
        </p:nvSpPr>
        <p:spPr>
          <a:xfrm>
            <a:off x="3364992" y="16916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Існуючий процес</a:t>
            </a:r>
            <a:endParaRPr lang="en-US" sz="1300"/>
          </a:p>
        </p:txBody>
      </p:sp>
      <p:sp>
        <p:nvSpPr>
          <p:cNvPr id="23" name="Shape 21"/>
          <p:cNvSpPr/>
          <p:nvPr/>
        </p:nvSpPr>
        <p:spPr>
          <a:xfrm>
            <a:off x="3364992" y="2057400"/>
            <a:ext cx="1970532" cy="219456"/>
          </a:xfrm>
          <a:prstGeom prst="rect">
            <a:avLst/>
          </a:prstGeom>
          <a:solidFill>
            <a:srgbClr val="1A6FFF">
              <a:alpha val="20000"/>
            </a:srgbClr>
          </a:solidFill>
          <a:ln w="12700">
            <a:solidFill>
              <a:srgbClr val="1A6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364992" y="2057400"/>
            <a:ext cx="19705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1A6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ПЕРШИЙ КРОК ПЕРЕД TO-BE</a:t>
            </a:r>
            <a:endParaRPr lang="en-US" sz="750"/>
          </a:p>
        </p:txBody>
      </p:sp>
      <p:sp>
        <p:nvSpPr>
          <p:cNvPr id="25" name="Text 23"/>
          <p:cNvSpPr/>
          <p:nvPr/>
        </p:nvSpPr>
        <p:spPr>
          <a:xfrm>
            <a:off x="3364992" y="2340864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Фіксуємо як процес виконується ЗАРАЗ — чесно, з усіма проблемами та workarounds.</a:t>
            </a:r>
            <a:endParaRPr lang="en-US" sz="1000"/>
          </a:p>
        </p:txBody>
      </p:sp>
      <p:sp>
        <p:nvSpPr>
          <p:cNvPr id="26" name="Shape 24"/>
          <p:cNvSpPr/>
          <p:nvPr/>
        </p:nvSpPr>
        <p:spPr>
          <a:xfrm>
            <a:off x="3364992" y="3063240"/>
            <a:ext cx="2468880" cy="0"/>
          </a:xfrm>
          <a:prstGeom prst="line">
            <a:avLst/>
          </a:prstGeom>
          <a:noFill/>
          <a:ln w="6350">
            <a:solidFill>
              <a:srgbClr val="1A6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364992" y="315468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Опис поточного стану</a:t>
            </a:r>
            <a:endParaRPr lang="en-US" sz="950"/>
          </a:p>
        </p:txBody>
      </p:sp>
      <p:sp>
        <p:nvSpPr>
          <p:cNvPr id="28" name="Text 26"/>
          <p:cNvSpPr/>
          <p:nvPr/>
        </p:nvSpPr>
        <p:spPr>
          <a:xfrm>
            <a:off x="3364992" y="356616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Явне фіксування проблем та неефективностей</a:t>
            </a:r>
            <a:endParaRPr lang="en-US" sz="950"/>
          </a:p>
        </p:txBody>
      </p:sp>
      <p:sp>
        <p:nvSpPr>
          <p:cNvPr id="29" name="Text 27"/>
          <p:cNvSpPr/>
          <p:nvPr/>
        </p:nvSpPr>
        <p:spPr>
          <a:xfrm>
            <a:off x="3364992" y="397764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Workarounds та відхилення від норми</a:t>
            </a:r>
            <a:endParaRPr lang="en-US" sz="950"/>
          </a:p>
        </p:txBody>
      </p:sp>
      <p:sp>
        <p:nvSpPr>
          <p:cNvPr id="30" name="Text 28"/>
          <p:cNvSpPr/>
          <p:nvPr/>
        </p:nvSpPr>
        <p:spPr>
          <a:xfrm>
            <a:off x="3364992" y="438912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Базова документація AS-IS</a:t>
            </a:r>
            <a:endParaRPr lang="en-US" sz="950"/>
          </a:p>
        </p:txBody>
      </p:sp>
      <p:sp>
        <p:nvSpPr>
          <p:cNvPr id="31" name="Shape 29"/>
          <p:cNvSpPr/>
          <p:nvPr/>
        </p:nvSpPr>
        <p:spPr>
          <a:xfrm>
            <a:off x="6044184" y="1143000"/>
            <a:ext cx="2743200" cy="3794760"/>
          </a:xfrm>
          <a:prstGeom prst="rect">
            <a:avLst/>
          </a:prstGeom>
          <a:solidFill>
            <a:srgbClr val="0D1530"/>
          </a:solidFill>
          <a:ln w="12700">
            <a:solidFill>
              <a:srgbClr val="008C72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044184" y="1143000"/>
            <a:ext cx="2743200" cy="54864"/>
          </a:xfrm>
          <a:prstGeom prst="rect">
            <a:avLst/>
          </a:prstGeom>
          <a:solidFill>
            <a:srgbClr val="FFB832"/>
          </a:solidFill>
          <a:ln w="12700">
            <a:solidFill>
              <a:srgbClr val="FFB8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181344" y="126187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B8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AS-IS → TO-BE</a:t>
            </a:r>
            <a:endParaRPr lang="en-US" sz="1600"/>
          </a:p>
        </p:txBody>
      </p:sp>
      <p:sp>
        <p:nvSpPr>
          <p:cNvPr id="34" name="Text 32"/>
          <p:cNvSpPr/>
          <p:nvPr/>
        </p:nvSpPr>
        <p:spPr>
          <a:xfrm>
            <a:off x="6181344" y="16916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Дельта-аналіз</a:t>
            </a:r>
            <a:endParaRPr lang="en-US" sz="1300"/>
          </a:p>
        </p:txBody>
      </p:sp>
      <p:sp>
        <p:nvSpPr>
          <p:cNvPr id="35" name="Shape 33"/>
          <p:cNvSpPr/>
          <p:nvPr/>
        </p:nvSpPr>
        <p:spPr>
          <a:xfrm>
            <a:off x="6181344" y="2057400"/>
            <a:ext cx="1581912" cy="219456"/>
          </a:xfrm>
          <a:prstGeom prst="rect">
            <a:avLst/>
          </a:prstGeom>
          <a:solidFill>
            <a:srgbClr val="FFB832">
              <a:alpha val="20000"/>
            </a:srgbClr>
          </a:solidFill>
          <a:ln w="12700">
            <a:solidFill>
              <a:srgbClr val="FFB8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181344" y="2057400"/>
            <a:ext cx="1581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B8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НАЙБІЛЬША ЦІННІСТЬ</a:t>
            </a:r>
            <a:endParaRPr lang="en-US" sz="750"/>
          </a:p>
        </p:txBody>
      </p:sp>
      <p:sp>
        <p:nvSpPr>
          <p:cNvPr id="37" name="Text 35"/>
          <p:cNvSpPr/>
          <p:nvPr/>
        </p:nvSpPr>
        <p:spPr>
          <a:xfrm>
            <a:off x="6181344" y="2340864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Двофазний сценарій. Спочатку AS-IS, потім AI аналізує і проектує TO-BE з обґрунтуванням змін.</a:t>
            </a:r>
            <a:endParaRPr lang="en-US" sz="1000"/>
          </a:p>
        </p:txBody>
      </p:sp>
      <p:sp>
        <p:nvSpPr>
          <p:cNvPr id="38" name="Shape 36"/>
          <p:cNvSpPr/>
          <p:nvPr/>
        </p:nvSpPr>
        <p:spPr>
          <a:xfrm>
            <a:off x="6181344" y="3063240"/>
            <a:ext cx="2468880" cy="0"/>
          </a:xfrm>
          <a:prstGeom prst="line">
            <a:avLst/>
          </a:prstGeom>
          <a:noFill/>
          <a:ln w="6350">
            <a:solidFill>
              <a:srgbClr val="FFB83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181344" y="315468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Фаза 1: фіксація AS-IS</a:t>
            </a:r>
            <a:endParaRPr lang="en-US" sz="950"/>
          </a:p>
        </p:txBody>
      </p:sp>
      <p:sp>
        <p:nvSpPr>
          <p:cNvPr id="40" name="Text 38"/>
          <p:cNvSpPr/>
          <p:nvPr/>
        </p:nvSpPr>
        <p:spPr>
          <a:xfrm>
            <a:off x="6181344" y="356616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Аналітична пауза — AI визначає топ-3 проблеми</a:t>
            </a:r>
            <a:endParaRPr lang="en-US" sz="950"/>
          </a:p>
        </p:txBody>
      </p:sp>
      <p:sp>
        <p:nvSpPr>
          <p:cNvPr id="41" name="Text 39"/>
          <p:cNvSpPr/>
          <p:nvPr/>
        </p:nvSpPr>
        <p:spPr>
          <a:xfrm>
            <a:off x="6181344" y="397764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Фаза 2: проектування TO-BE</a:t>
            </a:r>
            <a:endParaRPr lang="en-US" sz="950"/>
          </a:p>
        </p:txBody>
      </p:sp>
      <p:sp>
        <p:nvSpPr>
          <p:cNvPr id="42" name="Text 40"/>
          <p:cNvSpPr/>
          <p:nvPr/>
        </p:nvSpPr>
        <p:spPr>
          <a:xfrm>
            <a:off x="6181344" y="438912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Таблиця БУЛО → СТАЛО + план переходу</a:t>
            </a:r>
            <a:endParaRPr lang="en-US" sz="950"/>
          </a:p>
        </p:txBody>
      </p:sp>
      <p:pic>
        <p:nvPicPr>
          <p:cNvPr id="43" name="Picture 2">
            <a:extLst>
              <a:ext uri="{FF2B5EF4-FFF2-40B4-BE49-F238E27FC236}">
                <a16:creationId xmlns:a16="http://schemas.microsoft.com/office/drawing/2014/main" id="{97E001EE-492C-E405-6F76-4F743FA908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5237" y="137668"/>
            <a:ext cx="1301123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406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892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900"/>
          </a:p>
        </p:txBody>
      </p:sp>
      <p:sp>
        <p:nvSpPr>
          <p:cNvPr id="4" name="Shape 2"/>
          <p:cNvSpPr/>
          <p:nvPr/>
        </p:nvSpPr>
        <p:spPr>
          <a:xfrm>
            <a:off x="457200" y="274320"/>
            <a:ext cx="1504188" cy="219456"/>
          </a:xfrm>
          <a:prstGeom prst="rect">
            <a:avLst/>
          </a:prstGeom>
          <a:solidFill>
            <a:srgbClr val="00D4AA">
              <a:alpha val="20000"/>
            </a:srgbClr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15041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DISCOVERY PROCESS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457200" y="5303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блоків — 37 питань — суцільний контроль якості</a:t>
            </a:r>
            <a:endParaRPr lang="en-US" sz="2200"/>
          </a:p>
        </p:txBody>
      </p:sp>
      <p:sp>
        <p:nvSpPr>
          <p:cNvPr id="7" name="Shape 5"/>
          <p:cNvSpPr/>
          <p:nvPr/>
        </p:nvSpPr>
        <p:spPr>
          <a:xfrm>
            <a:off x="411480" y="1115568"/>
            <a:ext cx="1124465" cy="475488"/>
          </a:xfrm>
          <a:prstGeom prst="rect">
            <a:avLst/>
          </a:prstGeom>
          <a:solidFill>
            <a:srgbClr val="4488FF"/>
          </a:solidFill>
          <a:ln w="12700">
            <a:solidFill>
              <a:srgbClr val="04060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115568"/>
            <a:ext cx="112446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406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00"/>
          </a:p>
        </p:txBody>
      </p:sp>
      <p:sp>
        <p:nvSpPr>
          <p:cNvPr id="9" name="Shape 7"/>
          <p:cNvSpPr/>
          <p:nvPr/>
        </p:nvSpPr>
        <p:spPr>
          <a:xfrm>
            <a:off x="1535945" y="1115568"/>
            <a:ext cx="674679" cy="475488"/>
          </a:xfrm>
          <a:prstGeom prst="rect">
            <a:avLst/>
          </a:prstGeom>
          <a:solidFill>
            <a:srgbClr val="33BBAA"/>
          </a:solidFill>
          <a:ln w="12700">
            <a:solidFill>
              <a:srgbClr val="04060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535945" y="1115568"/>
            <a:ext cx="67467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406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/>
          </a:p>
        </p:txBody>
      </p:sp>
      <p:sp>
        <p:nvSpPr>
          <p:cNvPr id="11" name="Shape 9"/>
          <p:cNvSpPr/>
          <p:nvPr/>
        </p:nvSpPr>
        <p:spPr>
          <a:xfrm>
            <a:off x="2210624" y="1115568"/>
            <a:ext cx="2248930" cy="475488"/>
          </a:xfrm>
          <a:prstGeom prst="rect">
            <a:avLst/>
          </a:prstGeom>
          <a:solidFill>
            <a:srgbClr val="00D4AA"/>
          </a:solidFill>
          <a:ln w="12700">
            <a:solidFill>
              <a:srgbClr val="04060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210624" y="1115568"/>
            <a:ext cx="224893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406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100"/>
          </a:p>
        </p:txBody>
      </p:sp>
      <p:sp>
        <p:nvSpPr>
          <p:cNvPr id="13" name="Shape 11"/>
          <p:cNvSpPr/>
          <p:nvPr/>
        </p:nvSpPr>
        <p:spPr>
          <a:xfrm>
            <a:off x="4459554" y="1115568"/>
            <a:ext cx="899572" cy="475488"/>
          </a:xfrm>
          <a:prstGeom prst="rect">
            <a:avLst/>
          </a:prstGeom>
          <a:solidFill>
            <a:srgbClr val="00A896"/>
          </a:solidFill>
          <a:ln w="12700">
            <a:solidFill>
              <a:srgbClr val="04060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459554" y="1115568"/>
            <a:ext cx="8995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406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/>
          </a:p>
        </p:txBody>
      </p:sp>
      <p:sp>
        <p:nvSpPr>
          <p:cNvPr id="15" name="Shape 13"/>
          <p:cNvSpPr/>
          <p:nvPr/>
        </p:nvSpPr>
        <p:spPr>
          <a:xfrm>
            <a:off x="5359125" y="1115568"/>
            <a:ext cx="674679" cy="475488"/>
          </a:xfrm>
          <a:prstGeom prst="rect">
            <a:avLst/>
          </a:prstGeom>
          <a:solidFill>
            <a:srgbClr val="5588EE"/>
          </a:solidFill>
          <a:ln w="12700">
            <a:solidFill>
              <a:srgbClr val="04060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359125" y="1115568"/>
            <a:ext cx="67467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406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/>
          </a:p>
        </p:txBody>
      </p:sp>
      <p:sp>
        <p:nvSpPr>
          <p:cNvPr id="17" name="Shape 15"/>
          <p:cNvSpPr/>
          <p:nvPr/>
        </p:nvSpPr>
        <p:spPr>
          <a:xfrm>
            <a:off x="6033804" y="1115568"/>
            <a:ext cx="1124465" cy="475488"/>
          </a:xfrm>
          <a:prstGeom prst="rect">
            <a:avLst/>
          </a:prstGeom>
          <a:solidFill>
            <a:srgbClr val="FFB832"/>
          </a:solidFill>
          <a:ln w="12700">
            <a:solidFill>
              <a:srgbClr val="04060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033804" y="1115568"/>
            <a:ext cx="112446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406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00"/>
          </a:p>
        </p:txBody>
      </p:sp>
      <p:sp>
        <p:nvSpPr>
          <p:cNvPr id="19" name="Shape 17"/>
          <p:cNvSpPr/>
          <p:nvPr/>
        </p:nvSpPr>
        <p:spPr>
          <a:xfrm>
            <a:off x="7158269" y="1115568"/>
            <a:ext cx="899572" cy="475488"/>
          </a:xfrm>
          <a:prstGeom prst="rect">
            <a:avLst/>
          </a:prstGeom>
          <a:solidFill>
            <a:srgbClr val="AA88FF"/>
          </a:solidFill>
          <a:ln w="12700">
            <a:solidFill>
              <a:srgbClr val="04060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158269" y="1115568"/>
            <a:ext cx="8995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406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/>
          </a:p>
        </p:txBody>
      </p:sp>
      <p:sp>
        <p:nvSpPr>
          <p:cNvPr id="21" name="Shape 19"/>
          <p:cNvSpPr/>
          <p:nvPr/>
        </p:nvSpPr>
        <p:spPr>
          <a:xfrm>
            <a:off x="8057841" y="1115568"/>
            <a:ext cx="674679" cy="475488"/>
          </a:xfrm>
          <a:prstGeom prst="rect">
            <a:avLst/>
          </a:prstGeom>
          <a:solidFill>
            <a:srgbClr val="FF8855"/>
          </a:solidFill>
          <a:ln w="12700">
            <a:solidFill>
              <a:srgbClr val="04060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057841" y="1115568"/>
            <a:ext cx="67467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406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/>
          </a:p>
        </p:txBody>
      </p:sp>
      <p:sp>
        <p:nvSpPr>
          <p:cNvPr id="23" name="Shape 21"/>
          <p:cNvSpPr/>
          <p:nvPr/>
        </p:nvSpPr>
        <p:spPr>
          <a:xfrm>
            <a:off x="411480" y="1874520"/>
            <a:ext cx="1993392" cy="1325880"/>
          </a:xfrm>
          <a:prstGeom prst="rect">
            <a:avLst/>
          </a:prstGeom>
          <a:solidFill>
            <a:srgbClr val="0D1530"/>
          </a:solidFill>
          <a:ln w="12700">
            <a:solidFill>
              <a:srgbClr val="008C72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11480" y="1874520"/>
            <a:ext cx="45720" cy="1325880"/>
          </a:xfrm>
          <a:prstGeom prst="rect">
            <a:avLst/>
          </a:prstGeom>
          <a:solidFill>
            <a:srgbClr val="4488FF"/>
          </a:solidFill>
          <a:ln w="12700">
            <a:solidFill>
              <a:srgbClr val="448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21208" y="196596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448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БЛОК 0</a:t>
            </a:r>
            <a:endParaRPr lang="en-US" sz="800"/>
          </a:p>
        </p:txBody>
      </p:sp>
      <p:sp>
        <p:nvSpPr>
          <p:cNvPr id="26" name="Text 24"/>
          <p:cNvSpPr/>
          <p:nvPr/>
        </p:nvSpPr>
        <p:spPr>
          <a:xfrm>
            <a:off x="521208" y="217627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Паспорт</a:t>
            </a:r>
            <a:endParaRPr lang="en-US" sz="1200"/>
          </a:p>
        </p:txBody>
      </p:sp>
      <p:sp>
        <p:nvSpPr>
          <p:cNvPr id="27" name="Text 25"/>
          <p:cNvSpPr/>
          <p:nvPr/>
        </p:nvSpPr>
        <p:spPr>
          <a:xfrm>
            <a:off x="521208" y="2496312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питань</a:t>
            </a:r>
            <a:endParaRPr lang="en-US" sz="900"/>
          </a:p>
        </p:txBody>
      </p:sp>
      <p:sp>
        <p:nvSpPr>
          <p:cNvPr id="28" name="Shape 26"/>
          <p:cNvSpPr/>
          <p:nvPr/>
        </p:nvSpPr>
        <p:spPr>
          <a:xfrm>
            <a:off x="521208" y="2907792"/>
            <a:ext cx="1737360" cy="91440"/>
          </a:xfrm>
          <a:prstGeom prst="rect">
            <a:avLst/>
          </a:prstGeom>
          <a:solidFill>
            <a:srgbClr val="1C2236"/>
          </a:solidFill>
          <a:ln w="12700">
            <a:solidFill>
              <a:srgbClr val="1C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21208" y="2907792"/>
            <a:ext cx="822960" cy="91440"/>
          </a:xfrm>
          <a:prstGeom prst="rect">
            <a:avLst/>
          </a:prstGeom>
          <a:solidFill>
            <a:srgbClr val="4488FF"/>
          </a:solidFill>
          <a:ln w="12700">
            <a:solidFill>
              <a:srgbClr val="448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532888" y="1874520"/>
            <a:ext cx="1993392" cy="1325880"/>
          </a:xfrm>
          <a:prstGeom prst="rect">
            <a:avLst/>
          </a:prstGeom>
          <a:solidFill>
            <a:srgbClr val="0D1530"/>
          </a:solidFill>
          <a:ln w="12700">
            <a:solidFill>
              <a:srgbClr val="008C72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2532888" y="1874520"/>
            <a:ext cx="45720" cy="1325880"/>
          </a:xfrm>
          <a:prstGeom prst="rect">
            <a:avLst/>
          </a:prstGeom>
          <a:solidFill>
            <a:srgbClr val="33BBAA"/>
          </a:solidFill>
          <a:ln w="12700">
            <a:solidFill>
              <a:srgbClr val="33B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642616" y="196596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33BB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БЛОК 1</a:t>
            </a:r>
            <a:endParaRPr lang="en-US" sz="800"/>
          </a:p>
        </p:txBody>
      </p:sp>
      <p:sp>
        <p:nvSpPr>
          <p:cNvPr id="33" name="Text 31"/>
          <p:cNvSpPr/>
          <p:nvPr/>
        </p:nvSpPr>
        <p:spPr>
          <a:xfrm>
            <a:off x="2642616" y="217627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Входи / тригери</a:t>
            </a:r>
            <a:endParaRPr lang="en-US" sz="1200"/>
          </a:p>
        </p:txBody>
      </p:sp>
      <p:sp>
        <p:nvSpPr>
          <p:cNvPr id="34" name="Text 32"/>
          <p:cNvSpPr/>
          <p:nvPr/>
        </p:nvSpPr>
        <p:spPr>
          <a:xfrm>
            <a:off x="2642616" y="2496312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питань</a:t>
            </a:r>
            <a:endParaRPr lang="en-US" sz="900"/>
          </a:p>
        </p:txBody>
      </p:sp>
      <p:sp>
        <p:nvSpPr>
          <p:cNvPr id="35" name="Shape 33"/>
          <p:cNvSpPr/>
          <p:nvPr/>
        </p:nvSpPr>
        <p:spPr>
          <a:xfrm>
            <a:off x="2642616" y="2907792"/>
            <a:ext cx="1737360" cy="91440"/>
          </a:xfrm>
          <a:prstGeom prst="rect">
            <a:avLst/>
          </a:prstGeom>
          <a:solidFill>
            <a:srgbClr val="1C2236"/>
          </a:solidFill>
          <a:ln w="12700">
            <a:solidFill>
              <a:srgbClr val="1C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2642616" y="2907792"/>
            <a:ext cx="493776" cy="91440"/>
          </a:xfrm>
          <a:prstGeom prst="rect">
            <a:avLst/>
          </a:prstGeom>
          <a:solidFill>
            <a:srgbClr val="33BBAA"/>
          </a:solidFill>
          <a:ln w="12700">
            <a:solidFill>
              <a:srgbClr val="33B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654296" y="1874520"/>
            <a:ext cx="1993392" cy="1325880"/>
          </a:xfrm>
          <a:prstGeom prst="rect">
            <a:avLst/>
          </a:prstGeom>
          <a:solidFill>
            <a:srgbClr val="0D1530"/>
          </a:solidFill>
          <a:ln w="12700">
            <a:solidFill>
              <a:srgbClr val="008C72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654296" y="1874520"/>
            <a:ext cx="45720" cy="132588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764024" y="196596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БЛОК 2</a:t>
            </a:r>
            <a:endParaRPr lang="en-US" sz="800"/>
          </a:p>
        </p:txBody>
      </p:sp>
      <p:sp>
        <p:nvSpPr>
          <p:cNvPr id="40" name="Text 38"/>
          <p:cNvSpPr/>
          <p:nvPr/>
        </p:nvSpPr>
        <p:spPr>
          <a:xfrm>
            <a:off x="4764024" y="217627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Кроки процесу</a:t>
            </a:r>
            <a:endParaRPr lang="en-US" sz="1200"/>
          </a:p>
        </p:txBody>
      </p:sp>
      <p:sp>
        <p:nvSpPr>
          <p:cNvPr id="41" name="Text 39"/>
          <p:cNvSpPr/>
          <p:nvPr/>
        </p:nvSpPr>
        <p:spPr>
          <a:xfrm>
            <a:off x="4764024" y="2496312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питань</a:t>
            </a:r>
            <a:endParaRPr lang="en-US" sz="900"/>
          </a:p>
        </p:txBody>
      </p:sp>
      <p:sp>
        <p:nvSpPr>
          <p:cNvPr id="42" name="Shape 40"/>
          <p:cNvSpPr/>
          <p:nvPr/>
        </p:nvSpPr>
        <p:spPr>
          <a:xfrm>
            <a:off x="4764024" y="2907792"/>
            <a:ext cx="1737360" cy="91440"/>
          </a:xfrm>
          <a:prstGeom prst="rect">
            <a:avLst/>
          </a:prstGeom>
          <a:solidFill>
            <a:srgbClr val="1C2236"/>
          </a:solidFill>
          <a:ln w="12700">
            <a:solidFill>
              <a:srgbClr val="1C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764024" y="2907792"/>
            <a:ext cx="1645920" cy="9144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6775704" y="1874520"/>
            <a:ext cx="1993392" cy="1325880"/>
          </a:xfrm>
          <a:prstGeom prst="rect">
            <a:avLst/>
          </a:prstGeom>
          <a:solidFill>
            <a:srgbClr val="0D1530"/>
          </a:solidFill>
          <a:ln w="12700">
            <a:solidFill>
              <a:srgbClr val="008C72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6775704" y="1874520"/>
            <a:ext cx="45720" cy="13258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885432" y="196596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БЛОК 3</a:t>
            </a:r>
            <a:endParaRPr lang="en-US" sz="800"/>
          </a:p>
        </p:txBody>
      </p:sp>
      <p:sp>
        <p:nvSpPr>
          <p:cNvPr id="47" name="Text 45"/>
          <p:cNvSpPr/>
          <p:nvPr/>
        </p:nvSpPr>
        <p:spPr>
          <a:xfrm>
            <a:off x="6885432" y="217627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 матриця</a:t>
            </a:r>
            <a:endParaRPr lang="en-US" sz="1200"/>
          </a:p>
        </p:txBody>
      </p:sp>
      <p:sp>
        <p:nvSpPr>
          <p:cNvPr id="48" name="Text 46"/>
          <p:cNvSpPr/>
          <p:nvPr/>
        </p:nvSpPr>
        <p:spPr>
          <a:xfrm>
            <a:off x="6885432" y="2496312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питань</a:t>
            </a:r>
            <a:endParaRPr lang="en-US" sz="900"/>
          </a:p>
        </p:txBody>
      </p:sp>
      <p:sp>
        <p:nvSpPr>
          <p:cNvPr id="49" name="Shape 47"/>
          <p:cNvSpPr/>
          <p:nvPr/>
        </p:nvSpPr>
        <p:spPr>
          <a:xfrm>
            <a:off x="6885432" y="2907792"/>
            <a:ext cx="1737360" cy="91440"/>
          </a:xfrm>
          <a:prstGeom prst="rect">
            <a:avLst/>
          </a:prstGeom>
          <a:solidFill>
            <a:srgbClr val="1C2236"/>
          </a:solidFill>
          <a:ln w="12700">
            <a:solidFill>
              <a:srgbClr val="1C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6885432" y="2907792"/>
            <a:ext cx="658368" cy="914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411480" y="3337560"/>
            <a:ext cx="1993392" cy="1325880"/>
          </a:xfrm>
          <a:prstGeom prst="rect">
            <a:avLst/>
          </a:prstGeom>
          <a:solidFill>
            <a:srgbClr val="0D1530"/>
          </a:solidFill>
          <a:ln w="12700">
            <a:solidFill>
              <a:srgbClr val="008C72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411480" y="3337560"/>
            <a:ext cx="45720" cy="1325880"/>
          </a:xfrm>
          <a:prstGeom prst="rect">
            <a:avLst/>
          </a:prstGeom>
          <a:solidFill>
            <a:srgbClr val="5588EE"/>
          </a:solidFill>
          <a:ln w="12700">
            <a:solidFill>
              <a:srgbClr val="558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521208" y="34290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558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БЛОК 4</a:t>
            </a:r>
            <a:endParaRPr lang="en-US" sz="800"/>
          </a:p>
        </p:txBody>
      </p:sp>
      <p:sp>
        <p:nvSpPr>
          <p:cNvPr id="54" name="Text 52"/>
          <p:cNvSpPr/>
          <p:nvPr/>
        </p:nvSpPr>
        <p:spPr>
          <a:xfrm>
            <a:off x="521208" y="363931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Інтеграції</a:t>
            </a:r>
            <a:endParaRPr lang="en-US" sz="1200"/>
          </a:p>
        </p:txBody>
      </p:sp>
      <p:sp>
        <p:nvSpPr>
          <p:cNvPr id="55" name="Text 53"/>
          <p:cNvSpPr/>
          <p:nvPr/>
        </p:nvSpPr>
        <p:spPr>
          <a:xfrm>
            <a:off x="521208" y="3959352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питань</a:t>
            </a:r>
            <a:endParaRPr lang="en-US" sz="900"/>
          </a:p>
        </p:txBody>
      </p:sp>
      <p:sp>
        <p:nvSpPr>
          <p:cNvPr id="56" name="Shape 54"/>
          <p:cNvSpPr/>
          <p:nvPr/>
        </p:nvSpPr>
        <p:spPr>
          <a:xfrm>
            <a:off x="521208" y="4370832"/>
            <a:ext cx="1737360" cy="91440"/>
          </a:xfrm>
          <a:prstGeom prst="rect">
            <a:avLst/>
          </a:prstGeom>
          <a:solidFill>
            <a:srgbClr val="1C2236"/>
          </a:solidFill>
          <a:ln w="12700">
            <a:solidFill>
              <a:srgbClr val="1C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521208" y="4370832"/>
            <a:ext cx="493776" cy="91440"/>
          </a:xfrm>
          <a:prstGeom prst="rect">
            <a:avLst/>
          </a:prstGeom>
          <a:solidFill>
            <a:srgbClr val="5588EE"/>
          </a:solidFill>
          <a:ln w="12700">
            <a:solidFill>
              <a:srgbClr val="558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2532888" y="3337560"/>
            <a:ext cx="1993392" cy="1325880"/>
          </a:xfrm>
          <a:prstGeom prst="rect">
            <a:avLst/>
          </a:prstGeom>
          <a:solidFill>
            <a:srgbClr val="0D1530"/>
          </a:solidFill>
          <a:ln w="12700">
            <a:solidFill>
              <a:srgbClr val="008C72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2532888" y="3337560"/>
            <a:ext cx="45720" cy="1325880"/>
          </a:xfrm>
          <a:prstGeom prst="rect">
            <a:avLst/>
          </a:prstGeom>
          <a:solidFill>
            <a:srgbClr val="FFB832"/>
          </a:solidFill>
          <a:ln w="12700">
            <a:solidFill>
              <a:srgbClr val="FFB8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2642616" y="34290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FFB8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БЛОК 5</a:t>
            </a:r>
            <a:endParaRPr lang="en-US" sz="800"/>
          </a:p>
        </p:txBody>
      </p:sp>
      <p:sp>
        <p:nvSpPr>
          <p:cNvPr id="61" name="Text 59"/>
          <p:cNvSpPr/>
          <p:nvPr/>
        </p:nvSpPr>
        <p:spPr>
          <a:xfrm>
            <a:off x="2642616" y="363931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Ризики / контролі</a:t>
            </a:r>
            <a:endParaRPr lang="en-US" sz="1200"/>
          </a:p>
        </p:txBody>
      </p:sp>
      <p:sp>
        <p:nvSpPr>
          <p:cNvPr id="62" name="Text 60"/>
          <p:cNvSpPr/>
          <p:nvPr/>
        </p:nvSpPr>
        <p:spPr>
          <a:xfrm>
            <a:off x="2642616" y="3959352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питань</a:t>
            </a:r>
            <a:endParaRPr lang="en-US" sz="900"/>
          </a:p>
        </p:txBody>
      </p:sp>
      <p:sp>
        <p:nvSpPr>
          <p:cNvPr id="63" name="Shape 61"/>
          <p:cNvSpPr/>
          <p:nvPr/>
        </p:nvSpPr>
        <p:spPr>
          <a:xfrm>
            <a:off x="2642616" y="4370832"/>
            <a:ext cx="1737360" cy="91440"/>
          </a:xfrm>
          <a:prstGeom prst="rect">
            <a:avLst/>
          </a:prstGeom>
          <a:solidFill>
            <a:srgbClr val="1C2236"/>
          </a:solidFill>
          <a:ln w="12700">
            <a:solidFill>
              <a:srgbClr val="1C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2642616" y="4370832"/>
            <a:ext cx="822960" cy="91440"/>
          </a:xfrm>
          <a:prstGeom prst="rect">
            <a:avLst/>
          </a:prstGeom>
          <a:solidFill>
            <a:srgbClr val="FFB832"/>
          </a:solidFill>
          <a:ln w="12700">
            <a:solidFill>
              <a:srgbClr val="FFB8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4654296" y="3337560"/>
            <a:ext cx="1993392" cy="1325880"/>
          </a:xfrm>
          <a:prstGeom prst="rect">
            <a:avLst/>
          </a:prstGeom>
          <a:solidFill>
            <a:srgbClr val="0D1530"/>
          </a:solidFill>
          <a:ln w="12700">
            <a:solidFill>
              <a:srgbClr val="008C72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4654296" y="3337560"/>
            <a:ext cx="45720" cy="1325880"/>
          </a:xfrm>
          <a:prstGeom prst="rect">
            <a:avLst/>
          </a:prstGeom>
          <a:solidFill>
            <a:srgbClr val="AA88FF"/>
          </a:solidFill>
          <a:ln w="12700">
            <a:solidFill>
              <a:srgbClr val="AA8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4764024" y="34290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AA8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БЛОК 6</a:t>
            </a:r>
            <a:endParaRPr lang="en-US" sz="800"/>
          </a:p>
        </p:txBody>
      </p:sp>
      <p:sp>
        <p:nvSpPr>
          <p:cNvPr id="68" name="Text 66"/>
          <p:cNvSpPr/>
          <p:nvPr/>
        </p:nvSpPr>
        <p:spPr>
          <a:xfrm>
            <a:off x="4764024" y="363931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</a:t>
            </a:r>
            <a:endParaRPr lang="en-US" sz="1200"/>
          </a:p>
        </p:txBody>
      </p:sp>
      <p:sp>
        <p:nvSpPr>
          <p:cNvPr id="69" name="Text 67"/>
          <p:cNvSpPr/>
          <p:nvPr/>
        </p:nvSpPr>
        <p:spPr>
          <a:xfrm>
            <a:off x="4764024" y="3959352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питань</a:t>
            </a:r>
            <a:endParaRPr lang="en-US" sz="900"/>
          </a:p>
        </p:txBody>
      </p:sp>
      <p:sp>
        <p:nvSpPr>
          <p:cNvPr id="70" name="Shape 68"/>
          <p:cNvSpPr/>
          <p:nvPr/>
        </p:nvSpPr>
        <p:spPr>
          <a:xfrm>
            <a:off x="4764024" y="4370832"/>
            <a:ext cx="1737360" cy="91440"/>
          </a:xfrm>
          <a:prstGeom prst="rect">
            <a:avLst/>
          </a:prstGeom>
          <a:solidFill>
            <a:srgbClr val="1C2236"/>
          </a:solidFill>
          <a:ln w="12700">
            <a:solidFill>
              <a:srgbClr val="1C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4764024" y="4370832"/>
            <a:ext cx="658368" cy="91440"/>
          </a:xfrm>
          <a:prstGeom prst="rect">
            <a:avLst/>
          </a:prstGeom>
          <a:solidFill>
            <a:srgbClr val="AA88FF"/>
          </a:solidFill>
          <a:ln w="12700">
            <a:solidFill>
              <a:srgbClr val="AA8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6775704" y="3337560"/>
            <a:ext cx="1993392" cy="1325880"/>
          </a:xfrm>
          <a:prstGeom prst="rect">
            <a:avLst/>
          </a:prstGeom>
          <a:solidFill>
            <a:srgbClr val="0D1530"/>
          </a:solidFill>
          <a:ln w="12700">
            <a:solidFill>
              <a:srgbClr val="008C72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6775704" y="3337560"/>
            <a:ext cx="45720" cy="1325880"/>
          </a:xfrm>
          <a:prstGeom prst="rect">
            <a:avLst/>
          </a:prstGeom>
          <a:solidFill>
            <a:srgbClr val="FF8855"/>
          </a:solidFill>
          <a:ln w="12700">
            <a:solidFill>
              <a:srgbClr val="FF88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6885432" y="34290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FF8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БЛОК 7</a:t>
            </a:r>
            <a:endParaRPr lang="en-US" sz="800"/>
          </a:p>
        </p:txBody>
      </p:sp>
      <p:sp>
        <p:nvSpPr>
          <p:cNvPr id="75" name="Text 73"/>
          <p:cNvSpPr/>
          <p:nvPr/>
        </p:nvSpPr>
        <p:spPr>
          <a:xfrm>
            <a:off x="6885432" y="363931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Зміни / план</a:t>
            </a:r>
            <a:endParaRPr lang="en-US" sz="1200"/>
          </a:p>
        </p:txBody>
      </p:sp>
      <p:sp>
        <p:nvSpPr>
          <p:cNvPr id="76" name="Text 74"/>
          <p:cNvSpPr/>
          <p:nvPr/>
        </p:nvSpPr>
        <p:spPr>
          <a:xfrm>
            <a:off x="6885432" y="3959352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питань</a:t>
            </a:r>
            <a:endParaRPr lang="en-US" sz="900"/>
          </a:p>
        </p:txBody>
      </p:sp>
      <p:sp>
        <p:nvSpPr>
          <p:cNvPr id="77" name="Shape 75"/>
          <p:cNvSpPr/>
          <p:nvPr/>
        </p:nvSpPr>
        <p:spPr>
          <a:xfrm>
            <a:off x="6885432" y="4370832"/>
            <a:ext cx="1737360" cy="91440"/>
          </a:xfrm>
          <a:prstGeom prst="rect">
            <a:avLst/>
          </a:prstGeom>
          <a:solidFill>
            <a:srgbClr val="1C2236"/>
          </a:solidFill>
          <a:ln w="12700">
            <a:solidFill>
              <a:srgbClr val="1C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6885432" y="4370832"/>
            <a:ext cx="493776" cy="91440"/>
          </a:xfrm>
          <a:prstGeom prst="rect">
            <a:avLst/>
          </a:prstGeom>
          <a:solidFill>
            <a:srgbClr val="FF8855"/>
          </a:solidFill>
          <a:ln w="12700">
            <a:solidFill>
              <a:srgbClr val="FF88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Після кожного блоку — автоматична аналітична перевірка: суперечності, реалістичність, прогалини, пропозиції доповнень</a:t>
            </a:r>
            <a:endParaRPr lang="en-US" sz="90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9F004B1-0E33-4666-500B-5C271C2A98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5237" y="137668"/>
            <a:ext cx="1301123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406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892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900"/>
          </a:p>
        </p:txBody>
      </p:sp>
      <p:sp>
        <p:nvSpPr>
          <p:cNvPr id="4" name="Shape 2"/>
          <p:cNvSpPr/>
          <p:nvPr/>
        </p:nvSpPr>
        <p:spPr>
          <a:xfrm>
            <a:off x="457200" y="274320"/>
            <a:ext cx="1348740" cy="219456"/>
          </a:xfrm>
          <a:prstGeom prst="rect">
            <a:avLst/>
          </a:prstGeom>
          <a:solidFill>
            <a:srgbClr val="FFB832">
              <a:alpha val="20000"/>
            </a:srgbClr>
          </a:solidFill>
          <a:ln w="12700">
            <a:solidFill>
              <a:srgbClr val="FFB8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13487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B8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КЛЮЧОВА ФУНКЦІЯ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457200" y="5303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аналізує — не просто записує</a:t>
            </a:r>
            <a:endParaRPr lang="en-US" sz="2400"/>
          </a:p>
        </p:txBody>
      </p:sp>
      <p:sp>
        <p:nvSpPr>
          <p:cNvPr id="7" name="Shape 5"/>
          <p:cNvSpPr/>
          <p:nvPr/>
        </p:nvSpPr>
        <p:spPr>
          <a:xfrm>
            <a:off x="411480" y="1143000"/>
            <a:ext cx="4160520" cy="1664208"/>
          </a:xfrm>
          <a:prstGeom prst="rect">
            <a:avLst/>
          </a:prstGeom>
          <a:solidFill>
            <a:srgbClr val="0D1530"/>
          </a:solidFill>
          <a:ln w="12700">
            <a:solidFill>
              <a:srgbClr val="008C72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1480" y="1143000"/>
            <a:ext cx="4160520" cy="5486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76072" y="12801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Виявлення суперечностей</a:t>
            </a:r>
            <a:endParaRPr lang="en-US" sz="1300"/>
          </a:p>
        </p:txBody>
      </p:sp>
      <p:sp>
        <p:nvSpPr>
          <p:cNvPr id="10" name="Text 8"/>
          <p:cNvSpPr/>
          <p:nvPr/>
        </p:nvSpPr>
        <p:spPr>
          <a:xfrm>
            <a:off x="576072" y="1618488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</a:t>
            </a:r>
            <a:r>
              <a:rPr lang="en-US" sz="95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помічає</a:t>
            </a: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конфлікти</a:t>
            </a: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між</a:t>
            </a: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відповідями</a:t>
            </a: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 </a:t>
            </a:r>
            <a:r>
              <a:rPr lang="en-US" sz="95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різних</a:t>
            </a: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блоках</a:t>
            </a: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95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Якщо</a:t>
            </a: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«</a:t>
            </a:r>
            <a:r>
              <a:rPr lang="en-US" sz="95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крок</a:t>
            </a: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виконує</a:t>
            </a: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роль</a:t>
            </a: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X» </a:t>
            </a:r>
            <a:r>
              <a:rPr lang="en-US" sz="95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але</a:t>
            </a: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раніше</a:t>
            </a: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«X </a:t>
            </a:r>
            <a:r>
              <a:rPr lang="en-US" sz="95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</a:t>
            </a: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бере</a:t>
            </a: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участі</a:t>
            </a: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» — </a:t>
            </a:r>
            <a:r>
              <a:rPr lang="en-US" sz="95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зупиняється</a:t>
            </a: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і </a:t>
            </a:r>
            <a:r>
              <a:rPr lang="en-US" sz="95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уточнює</a:t>
            </a: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</a:t>
            </a: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переходу</a:t>
            </a: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далі</a:t>
            </a: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76072" y="2240280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i="1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«Я помітив протиріччя: на кроці 3 ви вказали виконавцем Менеджера, але раніше сказали що він не залучений. Як правильно?»</a:t>
            </a:r>
            <a:endParaRPr lang="en-US" sz="850"/>
          </a:p>
        </p:txBody>
      </p:sp>
      <p:sp>
        <p:nvSpPr>
          <p:cNvPr id="12" name="Shape 10"/>
          <p:cNvSpPr/>
          <p:nvPr/>
        </p:nvSpPr>
        <p:spPr>
          <a:xfrm>
            <a:off x="4782312" y="1143000"/>
            <a:ext cx="4160520" cy="1664208"/>
          </a:xfrm>
          <a:prstGeom prst="rect">
            <a:avLst/>
          </a:prstGeom>
          <a:solidFill>
            <a:srgbClr val="0D1530"/>
          </a:solidFill>
          <a:ln w="12700">
            <a:solidFill>
              <a:srgbClr val="008C72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782312" y="1143000"/>
            <a:ext cx="4160520" cy="54864"/>
          </a:xfrm>
          <a:prstGeom prst="rect">
            <a:avLst/>
          </a:prstGeom>
          <a:solidFill>
            <a:srgbClr val="FFB832"/>
          </a:solidFill>
          <a:ln w="12700">
            <a:solidFill>
              <a:srgbClr val="FFB8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946904" y="12801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Перевірка реалістичності</a:t>
            </a:r>
            <a:endParaRPr lang="en-US" sz="1300"/>
          </a:p>
        </p:txBody>
      </p:sp>
      <p:sp>
        <p:nvSpPr>
          <p:cNvPr id="15" name="Text 13"/>
          <p:cNvSpPr/>
          <p:nvPr/>
        </p:nvSpPr>
        <p:spPr>
          <a:xfrm>
            <a:off x="4946904" y="1618488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Оцінює терміни, навантаження, кількість учасників. Якщо 20 заявок на місяць, а кожну особисто погоджує начальник відділу — AI звертає увагу.</a:t>
            </a:r>
            <a:endParaRPr lang="en-US" sz="950"/>
          </a:p>
        </p:txBody>
      </p:sp>
      <p:sp>
        <p:nvSpPr>
          <p:cNvPr id="16" name="Text 14"/>
          <p:cNvSpPr/>
          <p:nvPr/>
        </p:nvSpPr>
        <p:spPr>
          <a:xfrm>
            <a:off x="4946904" y="2240280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i="1">
                <a:solidFill>
                  <a:srgbClr val="FFB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«Ви сказали 15-20 запитів/міс. Погодження кожного начальником відділу — реалістично з урахуванням навантаження?»</a:t>
            </a:r>
            <a:endParaRPr lang="en-US" sz="850"/>
          </a:p>
        </p:txBody>
      </p:sp>
      <p:sp>
        <p:nvSpPr>
          <p:cNvPr id="17" name="Shape 15"/>
          <p:cNvSpPr/>
          <p:nvPr/>
        </p:nvSpPr>
        <p:spPr>
          <a:xfrm>
            <a:off x="411480" y="2944368"/>
            <a:ext cx="4160520" cy="1664208"/>
          </a:xfrm>
          <a:prstGeom prst="rect">
            <a:avLst/>
          </a:prstGeom>
          <a:solidFill>
            <a:srgbClr val="0D1530"/>
          </a:solidFill>
          <a:ln w="12700">
            <a:solidFill>
              <a:srgbClr val="008C72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11480" y="2944368"/>
            <a:ext cx="416052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76072" y="308152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Збагачення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процесу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76072" y="3419856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Пропонує</a:t>
            </a: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типові</a:t>
            </a: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кроки</a:t>
            </a: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</a:t>
            </a: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контролі</a:t>
            </a: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характерні</a:t>
            </a: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</a:t>
            </a: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pharma-</a:t>
            </a:r>
            <a:r>
              <a:rPr lang="en-US" sz="95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процесів</a:t>
            </a: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Farmak</a:t>
            </a: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які</a:t>
            </a: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учасник</a:t>
            </a: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міг</a:t>
            </a: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пропустити</a:t>
            </a: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GMP-</a:t>
            </a:r>
            <a:r>
              <a:rPr lang="en-US" sz="95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вимоги</a:t>
            </a: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95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аудит-трейл</a:t>
            </a: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95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делегування</a:t>
            </a: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76072" y="4041648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i="1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«Зазвичай у закупівельних процесах фарм. компаній є перевірка сертифіката постачальника. Чи актуально це у вашому випадку?»</a:t>
            </a:r>
            <a:endParaRPr lang="en-US" sz="850"/>
          </a:p>
        </p:txBody>
      </p:sp>
      <p:sp>
        <p:nvSpPr>
          <p:cNvPr id="22" name="Shape 20"/>
          <p:cNvSpPr/>
          <p:nvPr/>
        </p:nvSpPr>
        <p:spPr>
          <a:xfrm>
            <a:off x="4782312" y="2944368"/>
            <a:ext cx="4160520" cy="1664208"/>
          </a:xfrm>
          <a:prstGeom prst="rect">
            <a:avLst/>
          </a:prstGeom>
          <a:solidFill>
            <a:srgbClr val="0D1530"/>
          </a:solidFill>
          <a:ln w="12700">
            <a:solidFill>
              <a:srgbClr val="008C72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782312" y="2944368"/>
            <a:ext cx="4160520" cy="54864"/>
          </a:xfrm>
          <a:prstGeom prst="rect">
            <a:avLst/>
          </a:prstGeom>
          <a:solidFill>
            <a:srgbClr val="1A6FFF"/>
          </a:solidFill>
          <a:ln w="12700">
            <a:solidFill>
              <a:srgbClr val="1A6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946904" y="308152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Підказки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запит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46904" y="3419856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замовчуванням AI не підказує відповіді. Але якщо учасник явно просить приклад — пропонує 2-3 типові варіанти для Farmak і запитує який підходить.</a:t>
            </a:r>
            <a:endParaRPr lang="en-US" sz="950"/>
          </a:p>
        </p:txBody>
      </p:sp>
      <p:sp>
        <p:nvSpPr>
          <p:cNvPr id="26" name="Text 24"/>
          <p:cNvSpPr/>
          <p:nvPr/>
        </p:nvSpPr>
        <p:spPr>
          <a:xfrm>
            <a:off x="4946904" y="4041648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i="1">
                <a:solidFill>
                  <a:srgbClr val="1A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«Якщо потрібен приклад — типові метрики для закупівельного процесу: % замовлень вчасно, % замовлень без повернень, час циклу закупівлі.»</a:t>
            </a:r>
            <a:endParaRPr lang="en-US" sz="850"/>
          </a:p>
        </p:txBody>
      </p:sp>
      <p:pic>
        <p:nvPicPr>
          <p:cNvPr id="27" name="Picture 2">
            <a:extLst>
              <a:ext uri="{FF2B5EF4-FFF2-40B4-BE49-F238E27FC236}">
                <a16:creationId xmlns:a16="http://schemas.microsoft.com/office/drawing/2014/main" id="{C721E523-872B-829A-A105-0E0FA97603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5237" y="137668"/>
            <a:ext cx="1301123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406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892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900"/>
          </a:p>
        </p:txBody>
      </p:sp>
      <p:sp>
        <p:nvSpPr>
          <p:cNvPr id="4" name="Shape 2"/>
          <p:cNvSpPr/>
          <p:nvPr/>
        </p:nvSpPr>
        <p:spPr>
          <a:xfrm>
            <a:off x="457200" y="274320"/>
            <a:ext cx="1581912" cy="219456"/>
          </a:xfrm>
          <a:prstGeom prst="rect">
            <a:avLst/>
          </a:prstGeom>
          <a:solidFill>
            <a:srgbClr val="00D4AA">
              <a:alpha val="20000"/>
            </a:srgbClr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1581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КІНЕЦЬ МОДЕЛЮВАННЯ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457200" y="5303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отримує замовник на виході</a:t>
            </a:r>
            <a:endParaRPr lang="en-US" sz="2400"/>
          </a:p>
        </p:txBody>
      </p:sp>
      <p:sp>
        <p:nvSpPr>
          <p:cNvPr id="7" name="Shape 5"/>
          <p:cNvSpPr/>
          <p:nvPr/>
        </p:nvSpPr>
        <p:spPr>
          <a:xfrm>
            <a:off x="411480" y="1115568"/>
            <a:ext cx="3931920" cy="3794760"/>
          </a:xfrm>
          <a:prstGeom prst="rect">
            <a:avLst/>
          </a:prstGeom>
          <a:solidFill>
            <a:srgbClr val="0D1530"/>
          </a:solidFill>
          <a:ln w="12700">
            <a:solidFill>
              <a:srgbClr val="008C72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11480" y="1115568"/>
            <a:ext cx="3931920" cy="347472"/>
          </a:xfrm>
          <a:prstGeom prst="rect">
            <a:avLst/>
          </a:prstGeom>
          <a:solidFill>
            <a:srgbClr val="00D4AA">
              <a:alpha val="80000"/>
            </a:srgbClr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11155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DOCX — Процедура BPM</a:t>
            </a:r>
            <a:endParaRPr lang="en-US" sz="1100"/>
          </a:p>
        </p:txBody>
      </p:sp>
      <p:sp>
        <p:nvSpPr>
          <p:cNvPr id="10" name="Text 8"/>
          <p:cNvSpPr/>
          <p:nvPr/>
        </p:nvSpPr>
        <p:spPr>
          <a:xfrm>
            <a:off x="594360" y="15544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105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Паспорт</a:t>
            </a:r>
            <a:r>
              <a:rPr lang="en-US" sz="10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процедури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" y="185623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105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Терміни</a:t>
            </a:r>
            <a:r>
              <a:rPr lang="en-US" sz="10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</a:t>
            </a:r>
            <a:r>
              <a:rPr lang="en-US" sz="10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визначення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94360" y="215798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Загальні положення</a:t>
            </a:r>
            <a:endParaRPr lang="en-US" sz="1050"/>
          </a:p>
        </p:txBody>
      </p:sp>
      <p:sp>
        <p:nvSpPr>
          <p:cNvPr id="13" name="Text 11"/>
          <p:cNvSpPr/>
          <p:nvPr/>
        </p:nvSpPr>
        <p:spPr>
          <a:xfrm>
            <a:off x="594360" y="245973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Ролі та посади</a:t>
            </a:r>
            <a:endParaRPr lang="en-US" sz="1050"/>
          </a:p>
        </p:txBody>
      </p:sp>
      <p:sp>
        <p:nvSpPr>
          <p:cNvPr id="14" name="Text 12"/>
          <p:cNvSpPr/>
          <p:nvPr/>
        </p:nvSpPr>
        <p:spPr>
          <a:xfrm>
            <a:off x="594360" y="276148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Матриця RACI</a:t>
            </a:r>
            <a:endParaRPr lang="en-US" sz="1050"/>
          </a:p>
        </p:txBody>
      </p:sp>
      <p:sp>
        <p:nvSpPr>
          <p:cNvPr id="15" name="Text 13"/>
          <p:cNvSpPr/>
          <p:nvPr/>
        </p:nvSpPr>
        <p:spPr>
          <a:xfrm>
            <a:off x="594360" y="30632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Кроки процесу (таблиця)</a:t>
            </a:r>
            <a:endParaRPr lang="en-US" sz="1050"/>
          </a:p>
        </p:txBody>
      </p:sp>
      <p:sp>
        <p:nvSpPr>
          <p:cNvPr id="16" name="Text 14"/>
          <p:cNvSpPr/>
          <p:nvPr/>
        </p:nvSpPr>
        <p:spPr>
          <a:xfrm>
            <a:off x="594360" y="336499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Ризики та контролі</a:t>
            </a:r>
            <a:endParaRPr lang="en-US" sz="1050"/>
          </a:p>
        </p:txBody>
      </p:sp>
      <p:sp>
        <p:nvSpPr>
          <p:cNvPr id="17" name="Text 15"/>
          <p:cNvSpPr/>
          <p:nvPr/>
        </p:nvSpPr>
        <p:spPr>
          <a:xfrm>
            <a:off x="594360" y="366674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Оцінка / метрики</a:t>
            </a:r>
            <a:endParaRPr lang="en-US" sz="1050"/>
          </a:p>
        </p:txBody>
      </p:sp>
      <p:sp>
        <p:nvSpPr>
          <p:cNvPr id="18" name="Text 16"/>
          <p:cNvSpPr/>
          <p:nvPr/>
        </p:nvSpPr>
        <p:spPr>
          <a:xfrm>
            <a:off x="594360" y="396849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Ключові зміни (БУЛО → СТАЛО)</a:t>
            </a:r>
            <a:endParaRPr lang="en-US" sz="1050"/>
          </a:p>
        </p:txBody>
      </p:sp>
      <p:sp>
        <p:nvSpPr>
          <p:cNvPr id="19" name="Text 17"/>
          <p:cNvSpPr/>
          <p:nvPr/>
        </p:nvSpPr>
        <p:spPr>
          <a:xfrm>
            <a:off x="594360" y="427024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План імплементації</a:t>
            </a:r>
            <a:endParaRPr lang="en-US" sz="1050"/>
          </a:p>
        </p:txBody>
      </p:sp>
      <p:sp>
        <p:nvSpPr>
          <p:cNvPr id="20" name="Text 18"/>
          <p:cNvSpPr/>
          <p:nvPr/>
        </p:nvSpPr>
        <p:spPr>
          <a:xfrm>
            <a:off x="594360" y="4572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FFB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Відкриті питання</a:t>
            </a:r>
            <a:endParaRPr lang="en-US" sz="1050"/>
          </a:p>
        </p:txBody>
      </p:sp>
      <p:sp>
        <p:nvSpPr>
          <p:cNvPr id="21" name="Shape 19"/>
          <p:cNvSpPr/>
          <p:nvPr/>
        </p:nvSpPr>
        <p:spPr>
          <a:xfrm>
            <a:off x="4526280" y="1115568"/>
            <a:ext cx="4206240" cy="1755648"/>
          </a:xfrm>
          <a:prstGeom prst="rect">
            <a:avLst/>
          </a:prstGeom>
          <a:solidFill>
            <a:srgbClr val="0D1530"/>
          </a:solidFill>
          <a:ln w="12700">
            <a:solidFill>
              <a:srgbClr val="008C72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26280" y="1115568"/>
            <a:ext cx="4206240" cy="54864"/>
          </a:xfrm>
          <a:prstGeom prst="rect">
            <a:avLst/>
          </a:prstGeom>
          <a:solidFill>
            <a:srgbClr val="1A6FFF"/>
          </a:solidFill>
          <a:ln w="12700">
            <a:solidFill>
              <a:srgbClr val="1A6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663440" y="120700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 Опис </a:t>
            </a:r>
            <a:r>
              <a:rPr lang="en-US" sz="1200" b="1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діаграм</a:t>
            </a: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ARIS</a:t>
            </a:r>
            <a:endParaRPr lang="en-US" sz="1200"/>
          </a:p>
        </p:txBody>
      </p:sp>
      <p:sp>
        <p:nvSpPr>
          <p:cNvPr id="24" name="Text 22"/>
          <p:cNvSpPr/>
          <p:nvPr/>
        </p:nvSpPr>
        <p:spPr>
          <a:xfrm>
            <a:off x="4663440" y="15727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Enterprise BPMN Collaboration Diagram </a:t>
            </a:r>
            <a:r>
              <a:rPr lang="en-US" sz="60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</a:t>
            </a:r>
            <a:r>
              <a:rPr lang="uk-UA" sz="60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включено в прототип</a:t>
            </a:r>
            <a:endParaRPr lang="en-US" sz="1000"/>
          </a:p>
        </p:txBody>
      </p:sp>
      <p:sp>
        <p:nvSpPr>
          <p:cNvPr id="25" name="Text 23"/>
          <p:cNvSpPr/>
          <p:nvPr/>
        </p:nvSpPr>
        <p:spPr>
          <a:xfrm>
            <a:off x="4663440" y="18745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Function Allocation Diagram (FAD)</a:t>
            </a:r>
            <a:r>
              <a:rPr lang="uk-UA" sz="60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60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</a:t>
            </a:r>
            <a:r>
              <a:rPr lang="uk-UA" sz="60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включено в прототип</a:t>
            </a:r>
            <a:endParaRPr lang="en-US" sz="600">
              <a:solidFill>
                <a:srgbClr val="8892A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663440" y="21762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Process Allocation Diagram</a:t>
            </a:r>
            <a:r>
              <a:rPr lang="uk-UA" sz="100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60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</a:t>
            </a:r>
            <a:r>
              <a:rPr lang="uk-UA" sz="60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включено в прототип</a:t>
            </a:r>
            <a:endParaRPr lang="en-US" sz="600">
              <a:solidFill>
                <a:srgbClr val="8892A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663440" y="247802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Matrix Model (RACI)</a:t>
            </a:r>
            <a:endParaRPr lang="en-US" sz="1000"/>
          </a:p>
        </p:txBody>
      </p:sp>
      <p:sp>
        <p:nvSpPr>
          <p:cNvPr id="28" name="Shape 26"/>
          <p:cNvSpPr/>
          <p:nvPr/>
        </p:nvSpPr>
        <p:spPr>
          <a:xfrm>
            <a:off x="4526280" y="3017520"/>
            <a:ext cx="4206240" cy="1892808"/>
          </a:xfrm>
          <a:prstGeom prst="rect">
            <a:avLst/>
          </a:prstGeom>
          <a:solidFill>
            <a:srgbClr val="0D1530"/>
          </a:solidFill>
          <a:ln w="12700">
            <a:solidFill>
              <a:srgbClr val="008C72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526280" y="3017520"/>
            <a:ext cx="4206240" cy="54864"/>
          </a:xfrm>
          <a:prstGeom prst="rect">
            <a:avLst/>
          </a:prstGeom>
          <a:solidFill>
            <a:srgbClr val="008C72"/>
          </a:solidFill>
          <a:ln w="12700">
            <a:solidFill>
              <a:srgbClr val="008C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663440" y="31089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Відкриті питання та ризики</a:t>
            </a:r>
            <a:endParaRPr lang="en-US" sz="1200"/>
          </a:p>
        </p:txBody>
      </p:sp>
      <p:sp>
        <p:nvSpPr>
          <p:cNvPr id="31" name="Text 29"/>
          <p:cNvSpPr/>
          <p:nvPr/>
        </p:nvSpPr>
        <p:spPr>
          <a:xfrm>
            <a:off x="4663440" y="3493008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FB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Список полів що потребують уточнення</a:t>
            </a:r>
            <a:endParaRPr lang="en-US" sz="1000"/>
          </a:p>
        </p:txBody>
      </p:sp>
      <p:sp>
        <p:nvSpPr>
          <p:cNvPr id="32" name="Text 30"/>
          <p:cNvSpPr/>
          <p:nvPr/>
        </p:nvSpPr>
        <p:spPr>
          <a:xfrm>
            <a:off x="4663440" y="3840480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FB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Суперечності виявлені під час інтерв'ю</a:t>
            </a:r>
            <a:endParaRPr lang="en-US" sz="1000"/>
          </a:p>
        </p:txBody>
      </p:sp>
      <p:sp>
        <p:nvSpPr>
          <p:cNvPr id="33" name="Text 31"/>
          <p:cNvSpPr/>
          <p:nvPr/>
        </p:nvSpPr>
        <p:spPr>
          <a:xfrm>
            <a:off x="4663440" y="418795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FB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Ризики без визначеного контролю</a:t>
            </a:r>
            <a:endParaRPr lang="en-US" sz="1000"/>
          </a:p>
        </p:txBody>
      </p:sp>
      <p:sp>
        <p:nvSpPr>
          <p:cNvPr id="34" name="Text 32"/>
          <p:cNvSpPr/>
          <p:nvPr/>
        </p:nvSpPr>
        <p:spPr>
          <a:xfrm>
            <a:off x="4663440" y="4535424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FB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Власники без узгодження (відкриті рівні)</a:t>
            </a:r>
            <a:endParaRPr lang="en-US" sz="1000"/>
          </a:p>
        </p:txBody>
      </p:sp>
      <p:pic>
        <p:nvPicPr>
          <p:cNvPr id="35" name="Picture 2">
            <a:extLst>
              <a:ext uri="{FF2B5EF4-FFF2-40B4-BE49-F238E27FC236}">
                <a16:creationId xmlns:a16="http://schemas.microsoft.com/office/drawing/2014/main" id="{643FFF89-01A9-A8F7-1CC9-3E5B67CA77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5237" y="137668"/>
            <a:ext cx="1301123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406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892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00"/>
          </a:p>
        </p:txBody>
      </p:sp>
      <p:sp>
        <p:nvSpPr>
          <p:cNvPr id="4" name="Shape 2"/>
          <p:cNvSpPr/>
          <p:nvPr/>
        </p:nvSpPr>
        <p:spPr>
          <a:xfrm>
            <a:off x="457200" y="274320"/>
            <a:ext cx="1115568" cy="219456"/>
          </a:xfrm>
          <a:prstGeom prst="rect">
            <a:avLst/>
          </a:prstGeom>
          <a:solidFill>
            <a:srgbClr val="50FA7B">
              <a:alpha val="20000"/>
            </a:srgbClr>
          </a:solidFill>
          <a:ln w="12700">
            <a:solidFill>
              <a:srgbClr val="50FA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1115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ЕФЕКТИВНІСТЬ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457200" y="5303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Економія часу на один процес</a:t>
            </a:r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914400" y="1143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БЕЗ AI</a:t>
            </a:r>
            <a:endParaRPr lang="en-US" sz="1100"/>
          </a:p>
        </p:txBody>
      </p:sp>
      <p:sp>
        <p:nvSpPr>
          <p:cNvPr id="8" name="Text 6"/>
          <p:cNvSpPr/>
          <p:nvPr/>
        </p:nvSpPr>
        <p:spPr>
          <a:xfrm>
            <a:off x="914400" y="14447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 годин</a:t>
            </a:r>
            <a:endParaRPr lang="en-US" sz="2200"/>
          </a:p>
        </p:txBody>
      </p:sp>
      <p:sp>
        <p:nvSpPr>
          <p:cNvPr id="9" name="Shape 7"/>
          <p:cNvSpPr/>
          <p:nvPr/>
        </p:nvSpPr>
        <p:spPr>
          <a:xfrm>
            <a:off x="1005840" y="3904488"/>
            <a:ext cx="2103120" cy="576072"/>
          </a:xfrm>
          <a:prstGeom prst="rect">
            <a:avLst/>
          </a:prstGeom>
          <a:solidFill>
            <a:srgbClr val="445566"/>
          </a:solidFill>
          <a:ln w="12700">
            <a:solidFill>
              <a:srgbClr val="04060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05840" y="3904488"/>
            <a:ext cx="21031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Узгодження</a:t>
            </a:r>
            <a:endParaRPr lang="en-US" sz="900"/>
          </a:p>
        </p:txBody>
      </p:sp>
      <p:sp>
        <p:nvSpPr>
          <p:cNvPr id="11" name="Shape 9"/>
          <p:cNvSpPr/>
          <p:nvPr/>
        </p:nvSpPr>
        <p:spPr>
          <a:xfrm>
            <a:off x="1005840" y="2944368"/>
            <a:ext cx="2103120" cy="960120"/>
          </a:xfrm>
          <a:prstGeom prst="rect">
            <a:avLst/>
          </a:prstGeom>
          <a:solidFill>
            <a:srgbClr val="663333"/>
          </a:solidFill>
          <a:ln w="12700">
            <a:solidFill>
              <a:srgbClr val="04060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05840" y="2944368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Оформлення документу</a:t>
            </a:r>
            <a:endParaRPr lang="en-US" sz="900"/>
          </a:p>
        </p:txBody>
      </p:sp>
      <p:sp>
        <p:nvSpPr>
          <p:cNvPr id="13" name="Shape 11"/>
          <p:cNvSpPr/>
          <p:nvPr/>
        </p:nvSpPr>
        <p:spPr>
          <a:xfrm>
            <a:off x="1005840" y="2368296"/>
            <a:ext cx="2103120" cy="576072"/>
          </a:xfrm>
          <a:prstGeom prst="rect">
            <a:avLst/>
          </a:prstGeom>
          <a:solidFill>
            <a:srgbClr val="445566"/>
          </a:solidFill>
          <a:ln w="12700">
            <a:solidFill>
              <a:srgbClr val="04060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05840" y="2368296"/>
            <a:ext cx="21031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Живе інтерв'ю</a:t>
            </a:r>
            <a:endParaRPr lang="en-US" sz="900"/>
          </a:p>
        </p:txBody>
      </p:sp>
      <p:sp>
        <p:nvSpPr>
          <p:cNvPr id="15" name="Shape 13"/>
          <p:cNvSpPr/>
          <p:nvPr/>
        </p:nvSpPr>
        <p:spPr>
          <a:xfrm>
            <a:off x="1005840" y="1984248"/>
            <a:ext cx="2103120" cy="384048"/>
          </a:xfrm>
          <a:prstGeom prst="rect">
            <a:avLst/>
          </a:prstGeom>
          <a:solidFill>
            <a:srgbClr val="445566"/>
          </a:solidFill>
          <a:ln w="12700">
            <a:solidFill>
              <a:srgbClr val="04060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05840" y="198424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Підготовка інтерв'ю</a:t>
            </a:r>
            <a:endParaRPr lang="en-US" sz="900"/>
          </a:p>
        </p:txBody>
      </p:sp>
      <p:sp>
        <p:nvSpPr>
          <p:cNvPr id="17" name="Text 15"/>
          <p:cNvSpPr/>
          <p:nvPr/>
        </p:nvSpPr>
        <p:spPr>
          <a:xfrm>
            <a:off x="3749040" y="27432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2800"/>
          </a:p>
        </p:txBody>
      </p:sp>
      <p:sp>
        <p:nvSpPr>
          <p:cNvPr id="18" name="Text 16"/>
          <p:cNvSpPr/>
          <p:nvPr/>
        </p:nvSpPr>
        <p:spPr>
          <a:xfrm>
            <a:off x="5212080" y="11430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 AI</a:t>
            </a:r>
            <a:endParaRPr lang="en-US" sz="1100"/>
          </a:p>
        </p:txBody>
      </p:sp>
      <p:sp>
        <p:nvSpPr>
          <p:cNvPr id="19" name="Text 17"/>
          <p:cNvSpPr/>
          <p:nvPr/>
        </p:nvSpPr>
        <p:spPr>
          <a:xfrm>
            <a:off x="5212080" y="144475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годин</a:t>
            </a:r>
            <a:endParaRPr lang="en-US" sz="2200"/>
          </a:p>
        </p:txBody>
      </p:sp>
      <p:sp>
        <p:nvSpPr>
          <p:cNvPr id="20" name="Shape 18"/>
          <p:cNvSpPr/>
          <p:nvPr/>
        </p:nvSpPr>
        <p:spPr>
          <a:xfrm>
            <a:off x="5303520" y="4288536"/>
            <a:ext cx="2651760" cy="192024"/>
          </a:xfrm>
          <a:prstGeom prst="rect">
            <a:avLst/>
          </a:prstGeom>
          <a:solidFill>
            <a:srgbClr val="008C72"/>
          </a:solidFill>
          <a:ln w="12700">
            <a:solidFill>
              <a:srgbClr val="04060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303520" y="4288536"/>
            <a:ext cx="26517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040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Перевірка</a:t>
            </a:r>
            <a:endParaRPr lang="en-US" sz="900"/>
          </a:p>
        </p:txBody>
      </p:sp>
      <p:sp>
        <p:nvSpPr>
          <p:cNvPr id="22" name="Shape 20"/>
          <p:cNvSpPr/>
          <p:nvPr/>
        </p:nvSpPr>
        <p:spPr>
          <a:xfrm>
            <a:off x="5303520" y="4192524"/>
            <a:ext cx="2651760" cy="96012"/>
          </a:xfrm>
          <a:prstGeom prst="rect">
            <a:avLst/>
          </a:prstGeom>
          <a:solidFill>
            <a:srgbClr val="00D4AA"/>
          </a:solidFill>
          <a:ln w="12700">
            <a:solidFill>
              <a:srgbClr val="04060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303520" y="3712464"/>
            <a:ext cx="2651760" cy="480060"/>
          </a:xfrm>
          <a:prstGeom prst="rect">
            <a:avLst/>
          </a:prstGeom>
          <a:solidFill>
            <a:srgbClr val="00D4AA"/>
          </a:solidFill>
          <a:ln w="12700">
            <a:solidFill>
              <a:srgbClr val="04060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303520" y="3712464"/>
            <a:ext cx="26517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040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AI-інтерв'ю</a:t>
            </a:r>
            <a:endParaRPr lang="en-US" sz="900"/>
          </a:p>
        </p:txBody>
      </p:sp>
      <p:sp>
        <p:nvSpPr>
          <p:cNvPr id="25" name="Shape 23"/>
          <p:cNvSpPr/>
          <p:nvPr/>
        </p:nvSpPr>
        <p:spPr>
          <a:xfrm>
            <a:off x="5303520" y="3674059"/>
            <a:ext cx="2651760" cy="38405"/>
          </a:xfrm>
          <a:prstGeom prst="rect">
            <a:avLst/>
          </a:prstGeom>
          <a:solidFill>
            <a:srgbClr val="008C72"/>
          </a:solidFill>
          <a:ln w="12700">
            <a:solidFill>
              <a:srgbClr val="04060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31520" y="4480560"/>
            <a:ext cx="7772400" cy="0"/>
          </a:xfrm>
          <a:prstGeom prst="line">
            <a:avLst/>
          </a:prstGeom>
          <a:noFill/>
          <a:ln w="9525">
            <a:solidFill>
              <a:srgbClr val="8892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611880" y="2560320"/>
            <a:ext cx="1645920" cy="777240"/>
          </a:xfrm>
          <a:prstGeom prst="rect">
            <a:avLst/>
          </a:prstGeom>
          <a:solidFill>
            <a:srgbClr val="003D33"/>
          </a:solidFill>
          <a:ln w="12700">
            <a:solidFill>
              <a:srgbClr val="008C72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611880" y="2560320"/>
            <a:ext cx="1645920" cy="6400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611880" y="2651760"/>
            <a:ext cx="1645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 годин</a:t>
            </a:r>
            <a:endParaRPr lang="en-US" sz="140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400" b="1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процес</a:t>
            </a:r>
            <a:endParaRPr lang="en-US" sz="1400"/>
          </a:p>
        </p:txBody>
      </p:sp>
      <p:pic>
        <p:nvPicPr>
          <p:cNvPr id="30" name="Picture 2">
            <a:extLst>
              <a:ext uri="{FF2B5EF4-FFF2-40B4-BE49-F238E27FC236}">
                <a16:creationId xmlns:a16="http://schemas.microsoft.com/office/drawing/2014/main" id="{98A011D6-F6F2-6F84-A6BE-1427FB6E71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5237" y="137668"/>
            <a:ext cx="1301123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406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029200" y="457200"/>
            <a:ext cx="4572000" cy="5029200"/>
          </a:xfrm>
          <a:prstGeom prst="rect">
            <a:avLst/>
          </a:prstGeom>
          <a:solidFill>
            <a:srgbClr val="00D4AA">
              <a:alpha val="4000"/>
            </a:srgbClr>
          </a:solidFill>
          <a:ln w="12700">
            <a:solidFill>
              <a:srgbClr val="008C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5486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4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Готові до</a:t>
            </a:r>
            <a:endParaRPr lang="en-US" sz="4000"/>
          </a:p>
          <a:p>
            <a:pPr marL="0" indent="0">
              <a:lnSpc>
                <a:spcPct val="115000"/>
              </a:lnSpc>
              <a:buNone/>
            </a:pPr>
            <a:r>
              <a:rPr lang="en-US" sz="4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пілотного запуску?</a:t>
            </a:r>
            <a:endParaRPr lang="en-US" sz="4000"/>
          </a:p>
        </p:txBody>
      </p:sp>
      <p:sp>
        <p:nvSpPr>
          <p:cNvPr id="5" name="Text 3"/>
          <p:cNvSpPr/>
          <p:nvPr/>
        </p:nvSpPr>
        <p:spPr>
          <a:xfrm>
            <a:off x="548640" y="246888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40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Process Architect вже налаштований під стандарт</a:t>
            </a:r>
            <a:endParaRPr lang="en-US" sz="1400"/>
          </a:p>
          <a:p>
            <a:pPr marL="0" indent="0">
              <a:lnSpc>
                <a:spcPct val="145000"/>
              </a:lnSpc>
              <a:buNone/>
            </a:pPr>
            <a:r>
              <a:rPr lang="en-US" sz="140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Farmak BPM 3.2.1 та готовий до роботи.</a:t>
            </a:r>
            <a:endParaRPr lang="en-US" sz="1400"/>
          </a:p>
        </p:txBody>
      </p:sp>
      <p:sp>
        <p:nvSpPr>
          <p:cNvPr id="6" name="Shape 4"/>
          <p:cNvSpPr/>
          <p:nvPr/>
        </p:nvSpPr>
        <p:spPr>
          <a:xfrm>
            <a:off x="548640" y="3337560"/>
            <a:ext cx="5303520" cy="402336"/>
          </a:xfrm>
          <a:prstGeom prst="rect">
            <a:avLst/>
          </a:prstGeom>
          <a:solidFill>
            <a:srgbClr val="0D1530"/>
          </a:solidFill>
          <a:ln w="12700">
            <a:solidFill>
              <a:srgbClr val="008C72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3337560"/>
            <a:ext cx="347472" cy="402336"/>
          </a:xfrm>
          <a:prstGeom prst="rect">
            <a:avLst/>
          </a:prstGeom>
          <a:solidFill>
            <a:srgbClr val="00D4AA">
              <a:alpha val="80000"/>
            </a:srgbClr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3337560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/>
          </a:p>
        </p:txBody>
      </p:sp>
      <p:sp>
        <p:nvSpPr>
          <p:cNvPr id="9" name="Text 7"/>
          <p:cNvSpPr/>
          <p:nvPr/>
        </p:nvSpPr>
        <p:spPr>
          <a:xfrm>
            <a:off x="960120" y="3337560"/>
            <a:ext cx="4800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Обрати пілотний процес (рекомендуємо BPM 3.2.1.2 TO-BE)</a:t>
            </a:r>
            <a:endParaRPr lang="en-US" sz="1100"/>
          </a:p>
        </p:txBody>
      </p:sp>
      <p:sp>
        <p:nvSpPr>
          <p:cNvPr id="10" name="Shape 8"/>
          <p:cNvSpPr/>
          <p:nvPr/>
        </p:nvSpPr>
        <p:spPr>
          <a:xfrm>
            <a:off x="548640" y="3794760"/>
            <a:ext cx="5303520" cy="402336"/>
          </a:xfrm>
          <a:prstGeom prst="rect">
            <a:avLst/>
          </a:prstGeom>
          <a:solidFill>
            <a:srgbClr val="0D1530"/>
          </a:solidFill>
          <a:ln w="12700">
            <a:solidFill>
              <a:srgbClr val="008C72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48640" y="3794760"/>
            <a:ext cx="347472" cy="402336"/>
          </a:xfrm>
          <a:prstGeom prst="rect">
            <a:avLst/>
          </a:prstGeom>
          <a:solidFill>
            <a:srgbClr val="00D4AA">
              <a:alpha val="80000"/>
            </a:srgbClr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3794760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/>
          </a:p>
        </p:txBody>
      </p:sp>
      <p:sp>
        <p:nvSpPr>
          <p:cNvPr id="13" name="Text 11"/>
          <p:cNvSpPr/>
          <p:nvPr/>
        </p:nvSpPr>
        <p:spPr>
          <a:xfrm>
            <a:off x="960120" y="3794760"/>
            <a:ext cx="4800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Призначити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дизайнера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або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власника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L4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першого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інтерв'ю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251960"/>
            <a:ext cx="5303520" cy="402336"/>
          </a:xfrm>
          <a:prstGeom prst="rect">
            <a:avLst/>
          </a:prstGeom>
          <a:solidFill>
            <a:srgbClr val="0D1530"/>
          </a:solidFill>
          <a:ln w="12700">
            <a:solidFill>
              <a:srgbClr val="008C72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48640" y="4251960"/>
            <a:ext cx="347472" cy="402336"/>
          </a:xfrm>
          <a:prstGeom prst="rect">
            <a:avLst/>
          </a:prstGeom>
          <a:solidFill>
            <a:srgbClr val="00D4AA">
              <a:alpha val="80000"/>
            </a:srgbClr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4251960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/>
          </a:p>
        </p:txBody>
      </p:sp>
      <p:sp>
        <p:nvSpPr>
          <p:cNvPr id="17" name="Text 15"/>
          <p:cNvSpPr/>
          <p:nvPr/>
        </p:nvSpPr>
        <p:spPr>
          <a:xfrm>
            <a:off x="960120" y="4251960"/>
            <a:ext cx="4800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Провести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інтерв'ю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оцінити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якість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згенерованої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процедури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760720" y="914400"/>
            <a:ext cx="3017520" cy="841248"/>
          </a:xfrm>
          <a:prstGeom prst="rect">
            <a:avLst/>
          </a:prstGeom>
          <a:solidFill>
            <a:srgbClr val="0D1530"/>
          </a:solidFill>
          <a:ln w="12700">
            <a:solidFill>
              <a:srgbClr val="008C72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760720" y="914400"/>
            <a:ext cx="45720" cy="841248"/>
          </a:xfrm>
          <a:prstGeom prst="rect">
            <a:avLst/>
          </a:prstGeom>
          <a:solidFill>
            <a:srgbClr val="1A6FFF"/>
          </a:solidFill>
          <a:ln w="12700">
            <a:solidFill>
              <a:srgbClr val="1A6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897880" y="98755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1A6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ПІДПРОЦЕСИ</a:t>
            </a:r>
            <a:endParaRPr lang="en-US" sz="800"/>
          </a:p>
        </p:txBody>
      </p:sp>
      <p:sp>
        <p:nvSpPr>
          <p:cNvPr id="21" name="Text 19"/>
          <p:cNvSpPr/>
          <p:nvPr/>
        </p:nvSpPr>
        <p:spPr>
          <a:xfrm>
            <a:off x="5897880" y="1261872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3.2.1.1  +  3.2.1.2</a:t>
            </a:r>
            <a:endParaRPr lang="en-US" sz="1050"/>
          </a:p>
        </p:txBody>
      </p:sp>
      <p:sp>
        <p:nvSpPr>
          <p:cNvPr id="22" name="Shape 20"/>
          <p:cNvSpPr/>
          <p:nvPr/>
        </p:nvSpPr>
        <p:spPr>
          <a:xfrm>
            <a:off x="5760720" y="1920240"/>
            <a:ext cx="3017520" cy="841248"/>
          </a:xfrm>
          <a:prstGeom prst="rect">
            <a:avLst/>
          </a:prstGeom>
          <a:solidFill>
            <a:srgbClr val="0D1530"/>
          </a:solidFill>
          <a:ln w="12700">
            <a:solidFill>
              <a:srgbClr val="008C72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760720" y="1920240"/>
            <a:ext cx="45720" cy="84124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897880" y="199339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РЕЖИМИ</a:t>
            </a:r>
            <a:endParaRPr lang="en-US" sz="800"/>
          </a:p>
        </p:txBody>
      </p:sp>
      <p:sp>
        <p:nvSpPr>
          <p:cNvPr id="25" name="Text 23"/>
          <p:cNvSpPr/>
          <p:nvPr/>
        </p:nvSpPr>
        <p:spPr>
          <a:xfrm>
            <a:off x="5897880" y="2267712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AS-IS  /  TO-BE  /  DELTA</a:t>
            </a:r>
            <a:endParaRPr lang="en-US" sz="1050"/>
          </a:p>
        </p:txBody>
      </p:sp>
      <p:sp>
        <p:nvSpPr>
          <p:cNvPr id="26" name="Shape 24"/>
          <p:cNvSpPr/>
          <p:nvPr/>
        </p:nvSpPr>
        <p:spPr>
          <a:xfrm>
            <a:off x="5760720" y="2926080"/>
            <a:ext cx="3017520" cy="841248"/>
          </a:xfrm>
          <a:prstGeom prst="rect">
            <a:avLst/>
          </a:prstGeom>
          <a:solidFill>
            <a:srgbClr val="0D1530"/>
          </a:solidFill>
          <a:ln w="12700">
            <a:solidFill>
              <a:srgbClr val="008C72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760720" y="2926080"/>
            <a:ext cx="45720" cy="841248"/>
          </a:xfrm>
          <a:prstGeom prst="rect">
            <a:avLst/>
          </a:prstGeom>
          <a:solidFill>
            <a:srgbClr val="FFB832"/>
          </a:solidFill>
          <a:ln w="12700">
            <a:solidFill>
              <a:srgbClr val="FFB8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897880" y="299923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FFB8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РОЛІ</a:t>
            </a:r>
            <a:endParaRPr lang="en-US" sz="800"/>
          </a:p>
        </p:txBody>
      </p:sp>
      <p:sp>
        <p:nvSpPr>
          <p:cNvPr id="29" name="Text 27"/>
          <p:cNvSpPr/>
          <p:nvPr/>
        </p:nvSpPr>
        <p:spPr>
          <a:xfrm>
            <a:off x="5897880" y="3273552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Дизайнер · L4 · Експерт · Аналітик</a:t>
            </a:r>
            <a:endParaRPr lang="en-US" sz="1050"/>
          </a:p>
        </p:txBody>
      </p:sp>
      <p:sp>
        <p:nvSpPr>
          <p:cNvPr id="30" name="Shape 28"/>
          <p:cNvSpPr/>
          <p:nvPr/>
        </p:nvSpPr>
        <p:spPr>
          <a:xfrm>
            <a:off x="5760720" y="3931920"/>
            <a:ext cx="3017520" cy="841248"/>
          </a:xfrm>
          <a:prstGeom prst="rect">
            <a:avLst/>
          </a:prstGeom>
          <a:solidFill>
            <a:srgbClr val="0D1530"/>
          </a:solidFill>
          <a:ln w="12700">
            <a:solidFill>
              <a:srgbClr val="008C72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760720" y="3931920"/>
            <a:ext cx="45720" cy="841248"/>
          </a:xfrm>
          <a:prstGeom prst="rect">
            <a:avLst/>
          </a:prstGeom>
          <a:solidFill>
            <a:srgbClr val="50FA7B"/>
          </a:solidFill>
          <a:ln w="12700">
            <a:solidFill>
              <a:srgbClr val="50FA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897880" y="400507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ВИХІД</a:t>
            </a:r>
            <a:endParaRPr lang="en-US" sz="800"/>
          </a:p>
        </p:txBody>
      </p:sp>
      <p:sp>
        <p:nvSpPr>
          <p:cNvPr id="33" name="Text 31"/>
          <p:cNvSpPr/>
          <p:nvPr/>
        </p:nvSpPr>
        <p:spPr>
          <a:xfrm>
            <a:off x="5897880" y="4279392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Опис процесу</a:t>
            </a:r>
            <a:endParaRPr lang="en-US" sz="1050"/>
          </a:p>
        </p:txBody>
      </p:sp>
      <p:pic>
        <p:nvPicPr>
          <p:cNvPr id="34" name="Picture 2">
            <a:extLst>
              <a:ext uri="{FF2B5EF4-FFF2-40B4-BE49-F238E27FC236}">
                <a16:creationId xmlns:a16="http://schemas.microsoft.com/office/drawing/2014/main" id="{501B87C4-5AAD-CC23-6994-9D1CA47EB6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550" y="256032"/>
            <a:ext cx="1301123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C883F3B8BECA643B99063507FBE5825" ma:contentTypeVersion="3" ma:contentTypeDescription="Create a new document." ma:contentTypeScope="" ma:versionID="3786f2f66cbf6b8dcd9e16d5e7a95d9e">
  <xsd:schema xmlns:xsd="http://www.w3.org/2001/XMLSchema" xmlns:xs="http://www.w3.org/2001/XMLSchema" xmlns:p="http://schemas.microsoft.com/office/2006/metadata/properties" xmlns:ns2="3a9ac5fb-c0c0-4ead-b417-c027a8859a69" targetNamespace="http://schemas.microsoft.com/office/2006/metadata/properties" ma:root="true" ma:fieldsID="46098bac55472a34d84c16d66eafdc24" ns2:_="">
    <xsd:import namespace="3a9ac5fb-c0c0-4ead-b417-c027a8859a6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a9ac5fb-c0c0-4ead-b417-c027a8859a6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46A77F1-D183-40B6-A3AF-ADA779034530}">
  <ds:schemaRefs>
    <ds:schemaRef ds:uri="3a9ac5fb-c0c0-4ead-b417-c027a8859a6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D2CA21DE-EE0E-482D-A661-1C31A26411F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6C7943D-F653-4B88-AE33-374241833FD5}">
  <ds:schemaRefs>
    <ds:schemaRef ds:uri="http://schemas.microsoft.com/office/2006/metadata/properties"/>
    <ds:schemaRef ds:uri="http://schemas.openxmlformats.org/package/2006/metadata/core-properties"/>
    <ds:schemaRef ds:uri="3a9ac5fb-c0c0-4ead-b417-c027a8859a69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1234</Words>
  <Application>Microsoft Office PowerPoint</Application>
  <PresentationFormat>On-screen Show (16:9)</PresentationFormat>
  <Paragraphs>251</Paragraphs>
  <Slides>11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Farmak BPM AI — Процедура моделювання бізнес-процесів</dc:title>
  <dc:subject>PptxGenJS Presentation</dc:subject>
  <dc:creator>PptxGenJS</dc:creator>
  <cp:lastModifiedBy>Іщенко Антон Петрович (Anton Ishchenko)</cp:lastModifiedBy>
  <cp:revision>2</cp:revision>
  <dcterms:created xsi:type="dcterms:W3CDTF">2026-06-01T09:35:06Z</dcterms:created>
  <dcterms:modified xsi:type="dcterms:W3CDTF">2026-06-05T05:23:50Z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92777a8-4fe1-4bb5-bf8a-dafd6e0db0a2_Enabled">
    <vt:lpwstr>true</vt:lpwstr>
  </property>
  <property fmtid="{D5CDD505-2E9C-101B-9397-08002B2CF9AE}" pid="3" name="MSIP_Label_d92777a8-4fe1-4bb5-bf8a-dafd6e0db0a2_SetDate">
    <vt:lpwstr>2026-06-01T09:40:33Z</vt:lpwstr>
  </property>
  <property fmtid="{D5CDD505-2E9C-101B-9397-08002B2CF9AE}" pid="4" name="MSIP_Label_d92777a8-4fe1-4bb5-bf8a-dafd6e0db0a2_Method">
    <vt:lpwstr>Standard</vt:lpwstr>
  </property>
  <property fmtid="{D5CDD505-2E9C-101B-9397-08002B2CF9AE}" pid="5" name="MSIP_Label_d92777a8-4fe1-4bb5-bf8a-dafd6e0db0a2_Name">
    <vt:lpwstr>Ограниченный доступ</vt:lpwstr>
  </property>
  <property fmtid="{D5CDD505-2E9C-101B-9397-08002B2CF9AE}" pid="6" name="MSIP_Label_d92777a8-4fe1-4bb5-bf8a-dafd6e0db0a2_SiteId">
    <vt:lpwstr>b0bbbc89-2041-434f-8618-bc081a1a01d4</vt:lpwstr>
  </property>
  <property fmtid="{D5CDD505-2E9C-101B-9397-08002B2CF9AE}" pid="7" name="MSIP_Label_d92777a8-4fe1-4bb5-bf8a-dafd6e0db0a2_ActionId">
    <vt:lpwstr>65b3143d-3d7c-4f80-9c10-fbbed4f9c35d</vt:lpwstr>
  </property>
  <property fmtid="{D5CDD505-2E9C-101B-9397-08002B2CF9AE}" pid="8" name="MSIP_Label_d92777a8-4fe1-4bb5-bf8a-dafd6e0db0a2_ContentBits">
    <vt:lpwstr>0</vt:lpwstr>
  </property>
  <property fmtid="{D5CDD505-2E9C-101B-9397-08002B2CF9AE}" pid="9" name="MSIP_Label_d92777a8-4fe1-4bb5-bf8a-dafd6e0db0a2_Tag">
    <vt:lpwstr>10, 3, 0, 1</vt:lpwstr>
  </property>
  <property fmtid="{D5CDD505-2E9C-101B-9397-08002B2CF9AE}" pid="10" name="ContentTypeId">
    <vt:lpwstr>0x0101008C883F3B8BECA643B99063507FBE5825</vt:lpwstr>
  </property>
</Properties>
</file>